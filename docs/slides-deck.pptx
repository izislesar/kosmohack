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Открываем с команды и главной цифры.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Мотивация: ложные выезды дорого стоят, гари нужны региону.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Пять боксов — весь пайплайн одним взглядом.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AF — сильная сторона. Справа предсказание модели.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Честная история: гиганта убили, выиграл трудяга.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Формулу читать медленно. Файл примут с первого раза.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Пауза: живой фронт, не мокап.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API делали под фронт, фронт — под жюри.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Оргам важно: заведётся и у них.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1-map-ful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  <p:sp>
        <p:nvSpPr>
          <p:cNvPr id="3" name="Rounded Rectangle 2"/>
          <p:cNvSpPr/>
          <p:nvPr/>
        </p:nvSpPr>
        <p:spPr>
          <a:xfrm>
            <a:off x="457200" y="548640"/>
            <a:ext cx="6949440" cy="5120640"/>
          </a:xfrm>
          <a:prstGeom prst="roundRect">
            <a:avLst>
              <a:gd name="adj" fmla="val 6000"/>
            </a:avLst>
          </a:prstGeom>
          <a:solidFill>
            <a:srgbClr val="0D1217"/>
          </a:solidFill>
          <a:ln w="12700">
            <a:solidFill>
              <a:srgbClr val="2A33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457200" y="685800"/>
            <a:ext cx="82296" cy="4846320"/>
          </a:xfrm>
          <a:prstGeom prst="round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822960"/>
            <a:ext cx="6309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62D99A"/>
                </a:solidFill>
                <a:latin typeface="Inter"/>
              </a:rPr>
              <a:t>KOSMOHACK 2026 · SCORE 0.654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1280160"/>
            <a:ext cx="630936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200" b="1">
                <a:solidFill>
                  <a:srgbClr val="F2F4F5"/>
                </a:solidFill>
                <a:latin typeface="Inter"/>
              </a:rPr>
              <a:t>ЖИМ
НОГАМИ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3749039"/>
            <a:ext cx="63093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100" b="0">
                <a:solidFill>
                  <a:srgbClr val="B8C0C8"/>
                </a:solidFill>
                <a:latin typeface="Inter"/>
              </a:rPr>
              <a:t>Мониторинг лесных пожаров — от снимков до живой карты за уикенд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4754880"/>
            <a:ext cx="6309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7D8690"/>
                </a:solidFill>
                <a:latin typeface="Inter"/>
              </a:rPr>
              <a:t>AF-детекция · BS-гари · сервис · submission FINAL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640080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7D8690"/>
                </a:solidFill>
                <a:latin typeface="Inter"/>
              </a:rPr>
              <a:t>ЖИМ НОГАМИ · KOSMOHACK 2026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789920" y="640080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1">
                <a:solidFill>
                  <a:srgbClr val="7D8690"/>
                </a:solidFill>
                <a:latin typeface="Inter"/>
              </a:rPr>
              <a:t>01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2-burned-onl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  <p:sp>
        <p:nvSpPr>
          <p:cNvPr id="3" name="Rounded Rectangle 2"/>
          <p:cNvSpPr/>
          <p:nvPr/>
        </p:nvSpPr>
        <p:spPr>
          <a:xfrm>
            <a:off x="457200" y="457200"/>
            <a:ext cx="5669280" cy="5486400"/>
          </a:xfrm>
          <a:prstGeom prst="roundRect">
            <a:avLst>
              <a:gd name="adj" fmla="val 6000"/>
            </a:avLst>
          </a:prstGeom>
          <a:solidFill>
            <a:srgbClr val="0D1217"/>
          </a:solidFill>
          <a:ln w="12700">
            <a:solidFill>
              <a:srgbClr val="2A33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457200" y="594360"/>
            <a:ext cx="82296" cy="5212080"/>
          </a:xfrm>
          <a:prstGeom prst="round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68580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FF6B35"/>
                </a:solidFill>
                <a:latin typeface="Inter"/>
              </a:rPr>
              <a:t>Проблема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1143000"/>
            <a:ext cx="50292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" b="1">
                <a:solidFill>
                  <a:srgbClr val="F2F4F5"/>
                </a:solidFill>
                <a:latin typeface="Inter"/>
              </a:rPr>
              <a:t>Огонь видно.
Заводы — тоже</a:t>
            </a:r>
          </a:p>
        </p:txBody>
      </p:sp>
      <p:sp>
        <p:nvSpPr>
          <p:cNvPr id="7" name="Oval 6"/>
          <p:cNvSpPr/>
          <p:nvPr/>
        </p:nvSpPr>
        <p:spPr>
          <a:xfrm>
            <a:off x="822960" y="3383280"/>
            <a:ext cx="155448" cy="155448"/>
          </a:xfrm>
          <a:prstGeom prst="ellipse">
            <a:avLst/>
          </a:prstGeom>
          <a:solidFill>
            <a:srgbClr val="EF5B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97280" y="3310128"/>
            <a:ext cx="4572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0">
                <a:solidFill>
                  <a:srgbClr val="B8C0C8"/>
                </a:solidFill>
                <a:latin typeface="Inter"/>
              </a:rPr>
              <a:t>Ложняки FIRMS на факелах и ТЭЦ</a:t>
            </a:r>
          </a:p>
        </p:txBody>
      </p:sp>
      <p:sp>
        <p:nvSpPr>
          <p:cNvPr id="9" name="Oval 8"/>
          <p:cNvSpPr/>
          <p:nvPr/>
        </p:nvSpPr>
        <p:spPr>
          <a:xfrm>
            <a:off x="822960" y="4069080"/>
            <a:ext cx="155448" cy="155448"/>
          </a:xfrm>
          <a:prstGeom prst="ellipse">
            <a:avLst/>
          </a:prstGeom>
          <a:solidFill>
            <a:srgbClr val="E6C6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97280" y="3995928"/>
            <a:ext cx="4572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0">
                <a:solidFill>
                  <a:srgbClr val="B8C0C8"/>
                </a:solidFill>
                <a:latin typeface="Inter"/>
              </a:rPr>
              <a:t>Пропуски малых очагов и дыма</a:t>
            </a:r>
          </a:p>
        </p:txBody>
      </p:sp>
      <p:sp>
        <p:nvSpPr>
          <p:cNvPr id="11" name="Oval 10"/>
          <p:cNvSpPr/>
          <p:nvPr/>
        </p:nvSpPr>
        <p:spPr>
          <a:xfrm>
            <a:off x="822960" y="4754880"/>
            <a:ext cx="155448" cy="155448"/>
          </a:xfrm>
          <a:prstGeom prst="ellipse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97280" y="4681728"/>
            <a:ext cx="4572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0">
                <a:solidFill>
                  <a:srgbClr val="B8C0C8"/>
                </a:solidFill>
                <a:latin typeface="Inter"/>
              </a:rPr>
              <a:t>Гари считают вручную, неделями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640080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7D8690"/>
                </a:solidFill>
                <a:latin typeface="Inter"/>
              </a:rPr>
              <a:t>ЖИМ НОГАМИ · KOSMOHACK 2026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789920" y="640080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1">
                <a:solidFill>
                  <a:srgbClr val="7D8690"/>
                </a:solidFill>
                <a:latin typeface="Inter"/>
              </a:rPr>
              <a:t>02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0A0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800" b="1">
                <a:solidFill>
                  <a:srgbClr val="F2F4F5"/>
                </a:solidFill>
                <a:latin typeface="Inter"/>
              </a:rPr>
              <a:t>Конвейер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640080" y="2011680"/>
            <a:ext cx="2103120" cy="2377440"/>
          </a:xfrm>
          <a:prstGeom prst="roundRect">
            <a:avLst>
              <a:gd name="adj" fmla="val 6000"/>
            </a:avLst>
          </a:prstGeom>
          <a:solidFill>
            <a:srgbClr val="0D1217"/>
          </a:solidFill>
          <a:ln w="12700">
            <a:solidFill>
              <a:srgbClr val="2A33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640080" y="2148840"/>
            <a:ext cx="82296" cy="2103120"/>
          </a:xfrm>
          <a:prstGeom prst="roundRect">
            <a:avLst/>
          </a:prstGeom>
          <a:solidFill>
            <a:srgbClr val="EF5B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60120" y="2331720"/>
            <a:ext cx="155448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100" b="1">
                <a:solidFill>
                  <a:srgbClr val="F2F4F5"/>
                </a:solidFill>
                <a:latin typeface="Inter"/>
              </a:rPr>
              <a:t>VIIRS AF</a:t>
            </a:r>
            <a:r>
              <a:rPr sz="1500" b="0">
                <a:solidFill>
                  <a:srgbClr val="7D8690"/>
                </a:solidFill>
                <a:latin typeface="Inter"/>
              </a:rPr>
              <a:t>
Unet · 12ch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743200" y="2834640"/>
            <a:ext cx="365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0">
                <a:solidFill>
                  <a:srgbClr val="FF6B35"/>
                </a:solidFill>
                <a:latin typeface="Inter"/>
              </a:rPr>
              <a:t>›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944368" y="2011680"/>
            <a:ext cx="2103120" cy="2377440"/>
          </a:xfrm>
          <a:prstGeom prst="roundRect">
            <a:avLst>
              <a:gd name="adj" fmla="val 6000"/>
            </a:avLst>
          </a:prstGeom>
          <a:solidFill>
            <a:srgbClr val="0D1217"/>
          </a:solidFill>
          <a:ln w="12700">
            <a:solidFill>
              <a:srgbClr val="2A33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2944368" y="2148840"/>
            <a:ext cx="82296" cy="2103120"/>
          </a:xfrm>
          <a:prstGeom prst="roundRect">
            <a:avLst/>
          </a:prstGeom>
          <a:solidFill>
            <a:srgbClr val="E6C6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264408" y="2331720"/>
            <a:ext cx="155448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100" b="1">
                <a:solidFill>
                  <a:srgbClr val="F2F4F5"/>
                </a:solidFill>
                <a:latin typeface="Inter"/>
              </a:rPr>
              <a:t>S2 BS</a:t>
            </a:r>
            <a:r>
              <a:rPr sz="1500" b="0">
                <a:solidFill>
                  <a:srgbClr val="7D8690"/>
                </a:solidFill>
                <a:latin typeface="Inter"/>
              </a:rPr>
              <a:t>
Unet · 27ch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47488" y="2834640"/>
            <a:ext cx="365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0">
                <a:solidFill>
                  <a:srgbClr val="FF6B35"/>
                </a:solidFill>
                <a:latin typeface="Inter"/>
              </a:rPr>
              <a:t>›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248656" y="2011680"/>
            <a:ext cx="2103120" cy="2377440"/>
          </a:xfrm>
          <a:prstGeom prst="roundRect">
            <a:avLst>
              <a:gd name="adj" fmla="val 6000"/>
            </a:avLst>
          </a:prstGeom>
          <a:solidFill>
            <a:srgbClr val="0D1217"/>
          </a:solidFill>
          <a:ln w="12700">
            <a:solidFill>
              <a:srgbClr val="2A33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5248656" y="2148840"/>
            <a:ext cx="82296" cy="2103120"/>
          </a:xfrm>
          <a:prstGeom prst="round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568696" y="2331720"/>
            <a:ext cx="155448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100" b="1">
                <a:solidFill>
                  <a:srgbClr val="F2F4F5"/>
                </a:solidFill>
                <a:latin typeface="Inter"/>
              </a:rPr>
              <a:t>inference</a:t>
            </a:r>
            <a:r>
              <a:rPr sz="1500" b="0">
                <a:solidFill>
                  <a:srgbClr val="7D8690"/>
                </a:solidFill>
                <a:latin typeface="Inter"/>
              </a:rPr>
              <a:t>
~28 сек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51775" y="2834640"/>
            <a:ext cx="365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0">
                <a:solidFill>
                  <a:srgbClr val="FF6B35"/>
                </a:solidFill>
                <a:latin typeface="Inter"/>
              </a:rPr>
              <a:t>›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552944" y="2011680"/>
            <a:ext cx="2103120" cy="2377440"/>
          </a:xfrm>
          <a:prstGeom prst="roundRect">
            <a:avLst>
              <a:gd name="adj" fmla="val 6000"/>
            </a:avLst>
          </a:prstGeom>
          <a:solidFill>
            <a:srgbClr val="0D1217"/>
          </a:solidFill>
          <a:ln w="12700">
            <a:solidFill>
              <a:srgbClr val="2A33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7552944" y="2148840"/>
            <a:ext cx="82296" cy="2103120"/>
          </a:xfrm>
          <a:prstGeom prst="roundRect">
            <a:avLst/>
          </a:prstGeom>
          <a:solidFill>
            <a:srgbClr val="62D9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872984" y="2331720"/>
            <a:ext cx="155448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100" b="1">
                <a:solidFill>
                  <a:srgbClr val="F2F4F5"/>
                </a:solidFill>
                <a:latin typeface="Inter"/>
              </a:rPr>
              <a:t>CSV-ответ</a:t>
            </a:r>
            <a:r>
              <a:rPr sz="1500" b="0">
                <a:solidFill>
                  <a:srgbClr val="7D8690"/>
                </a:solidFill>
                <a:latin typeface="Inter"/>
              </a:rPr>
              <a:t>
447 строк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656064" y="2834640"/>
            <a:ext cx="365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0">
                <a:solidFill>
                  <a:srgbClr val="FF6B35"/>
                </a:solidFill>
                <a:latin typeface="Inter"/>
              </a:rPr>
              <a:t>›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9857232" y="2011680"/>
            <a:ext cx="2103120" cy="2377440"/>
          </a:xfrm>
          <a:prstGeom prst="roundRect">
            <a:avLst>
              <a:gd name="adj" fmla="val 6000"/>
            </a:avLst>
          </a:prstGeom>
          <a:solidFill>
            <a:srgbClr val="0D1217"/>
          </a:solidFill>
          <a:ln w="12700">
            <a:solidFill>
              <a:srgbClr val="2A33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9857232" y="2148840"/>
            <a:ext cx="82296" cy="2103120"/>
          </a:xfrm>
          <a:prstGeom prst="roundRect">
            <a:avLst/>
          </a:prstGeom>
          <a:solidFill>
            <a:srgbClr val="F2F4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0177272" y="2331720"/>
            <a:ext cx="155448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100" b="1">
                <a:solidFill>
                  <a:srgbClr val="F2F4F5"/>
                </a:solidFill>
                <a:latin typeface="Inter"/>
              </a:rPr>
              <a:t>сервис</a:t>
            </a:r>
            <a:r>
              <a:rPr sz="1500" b="0">
                <a:solidFill>
                  <a:srgbClr val="7D8690"/>
                </a:solidFill>
                <a:latin typeface="Inter"/>
              </a:rPr>
              <a:t>
карта + API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0080" y="4937760"/>
            <a:ext cx="108813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0">
                <a:solidFill>
                  <a:srgbClr val="7D8690"/>
                </a:solidFill>
                <a:latin typeface="Inter"/>
              </a:rPr>
              <a:t>Сплит по очагам · сиды 19 · гео теста не трогаем · повтор = тот же файл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7200" y="640080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7D8690"/>
                </a:solidFill>
                <a:latin typeface="Inter"/>
              </a:rPr>
              <a:t>ЖИМ НОГАМИ · KOSMOHACK 2026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789920" y="640080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1">
                <a:solidFill>
                  <a:srgbClr val="7D8690"/>
                </a:solidFill>
                <a:latin typeface="Inter"/>
              </a:rPr>
              <a:t>03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0A0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FF6B35"/>
                </a:solidFill>
                <a:latin typeface="Inter"/>
              </a:rPr>
              <a:t>Детектор огня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005840"/>
            <a:ext cx="45720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0" b="1">
                <a:solidFill>
                  <a:srgbClr val="62D99A"/>
                </a:solidFill>
                <a:latin typeface="Inter"/>
              </a:rPr>
              <a:t>0.84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265176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0">
                <a:solidFill>
                  <a:srgbClr val="B8C0C8"/>
                </a:solidFill>
                <a:latin typeface="Inter"/>
              </a:rPr>
              <a:t>micro-F1 · день 0.85 / ночь 0.80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3291840"/>
            <a:ext cx="457200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1">
                <a:solidFill>
                  <a:srgbClr val="F2F4F5"/>
                </a:solidFill>
                <a:latin typeface="Inter"/>
              </a:rPr>
              <a:t>5 минут обучения</a:t>
            </a:r>
            <a:r>
              <a:rPr sz="1600" b="0">
                <a:solidFill>
                  <a:srgbClr val="7D8690"/>
                </a:solidFill>
                <a:latin typeface="Inter"/>
              </a:rPr>
              <a:t>
Порог 0.15 + фильтр застройки · факелы на одном снимке неотличимы — пишем честно</a:t>
            </a:r>
          </a:p>
        </p:txBody>
      </p:sp>
      <p:pic>
        <p:nvPicPr>
          <p:cNvPr id="6" name="Picture 5" descr="af_viz_d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35040" y="1097280"/>
            <a:ext cx="5486400" cy="196444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457200" y="640080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7D8690"/>
                </a:solidFill>
                <a:latin typeface="Inter"/>
              </a:rPr>
              <a:t>ЖИМ НОГАМИ · KOSMOHACK 2026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89920" y="640080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1">
                <a:solidFill>
                  <a:srgbClr val="7D8690"/>
                </a:solidFill>
                <a:latin typeface="Inter"/>
              </a:rPr>
              <a:t>04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0A0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E6C65C"/>
                </a:solidFill>
                <a:latin typeface="Inter"/>
              </a:rPr>
              <a:t>Карты гарей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005840"/>
            <a:ext cx="45720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0" b="1">
                <a:solidFill>
                  <a:srgbClr val="E6C65C"/>
                </a:solidFill>
                <a:latin typeface="Inter"/>
              </a:rPr>
              <a:t>0.52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265176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0">
                <a:solidFill>
                  <a:srgbClr val="B8C0C8"/>
                </a:solidFill>
                <a:latin typeface="Inter"/>
              </a:rPr>
              <a:t>IoU · mIoU severity 0.54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3291840"/>
            <a:ext cx="457200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1">
                <a:solidFill>
                  <a:srgbClr val="F2F4F5"/>
                </a:solidFill>
                <a:latin typeface="Inter"/>
              </a:rPr>
              <a:t>Prithvi-300M похоронен: 0.16</a:t>
            </a:r>
            <a:r>
              <a:rPr sz="1600" b="0">
                <a:solidFill>
                  <a:srgbClr val="7D8690"/>
                </a:solidFill>
                <a:latin typeface="Inter"/>
              </a:rPr>
              <a:t>
Пороги dNBR под каждый ландшафт · retry-ветки проиграли фризу ep91</a:t>
            </a:r>
          </a:p>
        </p:txBody>
      </p:sp>
      <p:pic>
        <p:nvPicPr>
          <p:cNvPr id="6" name="Picture 5" descr="02-burned-onl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35040" y="1097280"/>
            <a:ext cx="5486400" cy="466344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457200" y="640080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7D8690"/>
                </a:solidFill>
                <a:latin typeface="Inter"/>
              </a:rPr>
              <a:t>ЖИМ НОГАМИ · KOSMOHACK 2026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89920" y="640080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1">
                <a:solidFill>
                  <a:srgbClr val="7D8690"/>
                </a:solidFill>
                <a:latin typeface="Inter"/>
              </a:rPr>
              <a:t>05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0A0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62D99A"/>
                </a:solidFill>
                <a:latin typeface="Inter"/>
              </a:rPr>
              <a:t>Метрика · FINAL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005840"/>
            <a:ext cx="1088136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0" b="1">
                <a:solidFill>
                  <a:srgbClr val="F2F4F5"/>
                </a:solidFill>
                <a:latin typeface="Inter"/>
              </a:rPr>
              <a:t>0.654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2651760"/>
            <a:ext cx="108813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>
                <a:solidFill>
                  <a:srgbClr val="B8C0C8"/>
                </a:solidFill>
                <a:latin typeface="Inter"/>
              </a:rPr>
              <a:t>0.35 × 0.8434  +  0.35 × 0.5239  +  0.30 × 0.5430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3474720"/>
            <a:ext cx="1088136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>
                <a:solidFill>
                  <a:srgbClr val="7D8690"/>
                </a:solidFill>
                <a:latin typeface="Inter"/>
              </a:rPr>
              <a:t>447 строк = шаблону · RLE валиден · NaN 0 · пересечений 0 · md5 97b86c67 · переобучение запрещено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0080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7D8690"/>
                </a:solidFill>
                <a:latin typeface="Inter"/>
              </a:rPr>
              <a:t>ЖИМ НОГАМИ · KOSMOHACK 2026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89920" y="640080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1">
                <a:solidFill>
                  <a:srgbClr val="7D8690"/>
                </a:solidFill>
                <a:latin typeface="Inter"/>
              </a:rPr>
              <a:t>06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0A0D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01-map-ful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0A0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FF6B35"/>
                </a:solidFill>
                <a:latin typeface="Inter"/>
              </a:rPr>
              <a:t>Сервис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914400"/>
            <a:ext cx="108813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400" b="1">
                <a:solidFill>
                  <a:srgbClr val="F2F4F5"/>
                </a:solidFill>
                <a:latin typeface="Inter"/>
              </a:rPr>
              <a:t>Живое API</a:t>
            </a:r>
          </a:p>
        </p:txBody>
      </p:sp>
      <p:sp>
        <p:nvSpPr>
          <p:cNvPr id="4" name="Oval 3"/>
          <p:cNvSpPr/>
          <p:nvPr/>
        </p:nvSpPr>
        <p:spPr>
          <a:xfrm>
            <a:off x="914400" y="3566160"/>
            <a:ext cx="155448" cy="155448"/>
          </a:xfrm>
          <a:prstGeom prst="ellipse">
            <a:avLst/>
          </a:prstGeom>
          <a:solidFill>
            <a:srgbClr val="62D9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280160" y="3493008"/>
            <a:ext cx="102412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100" b="0">
                <a:solidFill>
                  <a:srgbClr val="F2F4F5"/>
                </a:solidFill>
                <a:latin typeface="Inter"/>
              </a:rPr>
              <a:t>3 GET + 3 POST</a:t>
            </a:r>
            <a:r>
              <a:rPr sz="1500" b="0">
                <a:solidFill>
                  <a:srgbClr val="7D8690"/>
                </a:solidFill>
                <a:latin typeface="Inter"/>
              </a:rPr>
              <a:t>
точки · полигоны · аналитика · shp-архив</a:t>
            </a:r>
          </a:p>
        </p:txBody>
      </p:sp>
      <p:sp>
        <p:nvSpPr>
          <p:cNvPr id="6" name="Oval 5"/>
          <p:cNvSpPr/>
          <p:nvPr/>
        </p:nvSpPr>
        <p:spPr>
          <a:xfrm>
            <a:off x="914400" y="4389120"/>
            <a:ext cx="155448" cy="155448"/>
          </a:xfrm>
          <a:prstGeom prst="ellipse">
            <a:avLst/>
          </a:prstGeom>
          <a:solidFill>
            <a:srgbClr val="F2F4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280160" y="4315968"/>
            <a:ext cx="102412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100" b="0">
                <a:solidFill>
                  <a:srgbClr val="F2F4F5"/>
                </a:solidFill>
                <a:latin typeface="Inter"/>
              </a:rPr>
              <a:t>9 curl-проверок — все зелёные</a:t>
            </a:r>
            <a:r>
              <a:rPr sz="1500" b="0">
                <a:solidFill>
                  <a:srgbClr val="7D8690"/>
                </a:solidFill>
                <a:latin typeface="Inter"/>
              </a:rPr>
              <a:t>
серия лежит в репозитории</a:t>
            </a:r>
          </a:p>
        </p:txBody>
      </p:sp>
      <p:sp>
        <p:nvSpPr>
          <p:cNvPr id="8" name="Oval 7"/>
          <p:cNvSpPr/>
          <p:nvPr/>
        </p:nvSpPr>
        <p:spPr>
          <a:xfrm>
            <a:off x="914400" y="5212080"/>
            <a:ext cx="155448" cy="155448"/>
          </a:xfrm>
          <a:prstGeom prst="ellipse">
            <a:avLst/>
          </a:prstGeom>
          <a:solidFill>
            <a:srgbClr val="E6C6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280160" y="5138928"/>
            <a:ext cx="102412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100" b="0">
                <a:solidFill>
                  <a:srgbClr val="F2F4F5"/>
                </a:solidFill>
                <a:latin typeface="Inter"/>
              </a:rPr>
              <a:t>Без базы — нечему падать</a:t>
            </a:r>
            <a:r>
              <a:rPr sz="1500" b="0">
                <a:solidFill>
                  <a:srgbClr val="7D8690"/>
                </a:solidFill>
                <a:latin typeface="Inter"/>
              </a:rPr>
              <a:t>
файловый бэкенд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640080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7D8690"/>
                </a:solidFill>
                <a:latin typeface="Inter"/>
              </a:rPr>
              <a:t>ЖИМ НОГАМИ · KOSMOHACK 2026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789920" y="640080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1">
                <a:solidFill>
                  <a:srgbClr val="7D8690"/>
                </a:solidFill>
                <a:latin typeface="Inter"/>
              </a:rPr>
              <a:t>08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0A0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62D99A"/>
                </a:solidFill>
                <a:latin typeface="Inter"/>
              </a:rPr>
              <a:t>Воспроизводимость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914400"/>
            <a:ext cx="108813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400" b="1">
                <a:solidFill>
                  <a:srgbClr val="F2F4F5"/>
                </a:solidFill>
                <a:latin typeface="Inter"/>
              </a:rPr>
              <a:t>Одна команда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2651760"/>
            <a:ext cx="10881360" cy="1371600"/>
          </a:xfrm>
          <a:prstGeom prst="roundRect">
            <a:avLst>
              <a:gd name="adj" fmla="val 6000"/>
            </a:avLst>
          </a:prstGeom>
          <a:solidFill>
            <a:srgbClr val="0D1217"/>
          </a:solidFill>
          <a:ln w="12700">
            <a:solidFill>
              <a:srgbClr val="2A33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2788920"/>
            <a:ext cx="82296" cy="1097280"/>
          </a:xfrm>
          <a:prstGeom prst="roundRect">
            <a:avLst/>
          </a:prstGeom>
          <a:solidFill>
            <a:srgbClr val="62D9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2834640"/>
            <a:ext cx="1014984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100" b="1">
                <a:solidFill>
                  <a:srgbClr val="F2F4F5"/>
                </a:solidFill>
                <a:latin typeface="Inter"/>
              </a:rPr>
              <a:t>inference.py --data-dir &lt;test&gt; --output submission.csv</a:t>
            </a:r>
            <a:r>
              <a:rPr sz="1600" b="0">
                <a:solidFill>
                  <a:srgbClr val="7D8690"/>
                </a:solidFill>
                <a:latin typeface="Inter"/>
              </a:rPr>
              <a:t>
Веса в репо · CPU-фолбэк · README для оргов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40080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7D8690"/>
                </a:solidFill>
                <a:latin typeface="Inter"/>
              </a:rPr>
              <a:t>ЖИМ НОГАМИ · KOSMOHACK 2026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89920" y="640080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1">
                <a:solidFill>
                  <a:srgbClr val="7D8690"/>
                </a:solidFill>
                <a:latin typeface="Inter"/>
              </a:rPr>
              <a:t>09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2-burned-onl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  <p:sp>
        <p:nvSpPr>
          <p:cNvPr id="3" name="Rounded Rectangle 2"/>
          <p:cNvSpPr/>
          <p:nvPr/>
        </p:nvSpPr>
        <p:spPr>
          <a:xfrm>
            <a:off x="2926080" y="1463040"/>
            <a:ext cx="6309360" cy="3657600"/>
          </a:xfrm>
          <a:prstGeom prst="roundRect">
            <a:avLst>
              <a:gd name="adj" fmla="val 6000"/>
            </a:avLst>
          </a:prstGeom>
          <a:solidFill>
            <a:srgbClr val="0D1217"/>
          </a:solidFill>
          <a:ln w="12700">
            <a:solidFill>
              <a:srgbClr val="2A33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2926080" y="1600200"/>
            <a:ext cx="82296" cy="3383280"/>
          </a:xfrm>
          <a:prstGeom prst="round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926080" y="1737360"/>
            <a:ext cx="63093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5200" b="1">
                <a:solidFill>
                  <a:srgbClr val="F2F4F5"/>
                </a:solidFill>
                <a:latin typeface="Inter"/>
              </a:rPr>
              <a:t>ЖИМ НОГАМИ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926080" y="2926080"/>
            <a:ext cx="63093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>
                <a:solidFill>
                  <a:srgbClr val="B8C0C8"/>
                </a:solidFill>
                <a:latin typeface="Inter"/>
              </a:rPr>
              <a:t>спасибо · вопросы?
код, веса и отчёт — в репозитории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926080" y="4389120"/>
            <a:ext cx="6309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>
                <a:solidFill>
                  <a:srgbClr val="7D8690"/>
                </a:solidFill>
                <a:latin typeface="Inter"/>
              </a:rPr>
              <a:t>Score 0.654 · submission FINAL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