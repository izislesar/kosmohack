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D99A"/>
                </a:solidFill>
                <a:latin typeface="Inter"/>
              </a:rPr>
              <a:t>●  LIVE  ·  KOSMOHACK FIRE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6B35"/>
                </a:solidFill>
                <a:latin typeface="Inter"/>
              </a:rPr>
              <a:t>FIRE </a:t>
            </a:r>
            <a:r>
              <a:rPr sz="5400" b="1">
                <a:solidFill>
                  <a:srgbClr val="F2F4F5"/>
                </a:solidFill>
                <a:latin typeface="Inter"/>
              </a:rPr>
              <a:t>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A4ADB5"/>
                </a:solidFill>
                <a:latin typeface="Inter"/>
              </a:rPr>
              <a:t>Двухэтапный мониторинг природных пожаров по ДЗЗ — AF-детекция, BS-картирование гарей, аналитический сервис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2002536" cy="141732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56048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THERMAL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30368"/>
            <a:ext cx="1682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4F5"/>
                </a:solidFill>
                <a:latin typeface="Inter"/>
              </a:rPr>
              <a:t>0.8434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Inter"/>
              </a:rPr>
              <a:t>val micro-F1 AF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5" y="4846320"/>
            <a:ext cx="2002536" cy="141732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54096" y="4956048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54096" y="5230368"/>
            <a:ext cx="1682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8B5F"/>
                </a:solidFill>
                <a:latin typeface="Inter"/>
              </a:rPr>
              <a:t>0.654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5852160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Inter"/>
              </a:rPr>
              <a:t>0.35·F1 + 0.35·IoU + 0.30·mIoU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0912" y="4846320"/>
            <a:ext cx="2002536" cy="141732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4956048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BURN IOU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5230368"/>
            <a:ext cx="1682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4F5"/>
                </a:solidFill>
                <a:latin typeface="Inter"/>
              </a:rPr>
              <a:t>0.5239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5852160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Inter"/>
              </a:rPr>
              <a:t>micro-pool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50607" y="4846320"/>
            <a:ext cx="2002536" cy="141732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3488" y="4956048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5230368"/>
            <a:ext cx="1682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4F5"/>
                </a:solidFill>
                <a:latin typeface="Inter"/>
              </a:rPr>
              <a:t>0.5430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5852160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Inter"/>
              </a:rPr>
              <a:t>mIoU 1/2/3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4846320"/>
            <a:ext cx="2002536" cy="141732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4956048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9737D"/>
                </a:solidFill>
                <a:latin typeface="Inter"/>
              </a:rPr>
              <a:t>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5230368"/>
            <a:ext cx="1682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62D99A"/>
                </a:solidFill>
                <a:latin typeface="Inter"/>
              </a:rPr>
              <a:t>~28 сек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5852160"/>
            <a:ext cx="1682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9737D"/>
                </a:solidFill>
                <a:latin typeface="Inter"/>
              </a:rPr>
              <a:t>детерминирован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01  </a:t>
            </a:r>
            <a:r>
              <a:rPr sz="1300" b="1">
                <a:solidFill>
                  <a:srgbClr val="69737D"/>
                </a:solidFill>
                <a:latin typeface="Inter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Глобальным продуктам нельзя доверять вслепую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12140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56816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FIRMS сыплет ложняками на факелах, металлургии и ТЭЦ — в промзонах их больше, чем настоящих пожаров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834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7004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Блики металла, теплиц и воды · пропуски малых очагов, облачности и дыма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54787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83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Гари оценивают выборочно, с задержкой в недели, без единой методики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26110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9651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Надо: чистые термоточки + контуры гарей по степеням + запрос без ручных растров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02  </a:t>
            </a:r>
            <a:r>
              <a:rPr sz="1300" b="1">
                <a:solidFill>
                  <a:srgbClr val="69737D"/>
                </a:solidFill>
                <a:latin typeface="Inter"/>
              </a:rPr>
              <a:t>СХЕМА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Два модуля → общий ответ → сервис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965960" cy="155448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060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2F4F5"/>
                </a:solidFill>
                <a:latin typeface="Inter"/>
              </a:rPr>
              <a:t>VIIRS AF
Unet-effb4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2788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286000"/>
            <a:ext cx="1965960" cy="155448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6060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2F4F5"/>
                </a:solidFill>
                <a:latin typeface="Inter"/>
              </a:rPr>
              <a:t>S2 BS
Unet-effb4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788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2286000"/>
            <a:ext cx="1965960" cy="155448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6060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2F4F5"/>
                </a:solidFill>
                <a:latin typeface="Inter"/>
              </a:rPr>
              <a:t>inference.py
детерминирован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788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286000"/>
            <a:ext cx="1965960" cy="155448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58200" y="2468880"/>
            <a:ext cx="146304" cy="146304"/>
          </a:xfrm>
          <a:prstGeom prst="ellipse">
            <a:avLst/>
          </a:prstGeom>
          <a:solidFill>
            <a:srgbClr val="62D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7432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2F4F5"/>
                </a:solidFill>
                <a:latin typeface="Inter"/>
              </a:rPr>
              <a:t>submission.csv
447 строк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27889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6B35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0" y="2286000"/>
            <a:ext cx="1965960" cy="155448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6060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2F4F5"/>
                </a:solidFill>
                <a:latin typeface="Inter"/>
              </a:rPr>
              <a:t>FastAPI +
веб-карта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9737D"/>
                </a:solidFill>
                <a:latin typeface="Inter"/>
              </a:rPr>
              <a:t>Сплит по fire_event_id без утечек · сиды 19 · дрейф повтора ≤ 0.005</a:t>
            </a:r>
            <a:r>
              <a:rPr sz="1700" b="0">
                <a:solidFill>
                  <a:srgbClr val="69737D"/>
                </a:solidFill>
                <a:latin typeface="Inter"/>
              </a:rPr>
              <a:t>
Тест де-идентифицирован (§5.5): гео и даты не восстанавливаем — демо-привязка задокументирована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03  </a:t>
            </a:r>
            <a:r>
              <a:rPr sz="1300" b="1">
                <a:solidFill>
                  <a:srgbClr val="69737D"/>
                </a:solidFill>
                <a:latin typeface="Inter"/>
              </a:rPr>
              <a:t>МОДУЛЬ AF · ACTIVE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Горение: F1 0.8434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2996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865376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Вход 12 каналов: I1–I3, I4, I4−I5, landcover / DEM / ERA5 / day-night / valid · I4 clip 367K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74320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Dice+Focal · oversample позитивов ×3 · AMP · всё обучение — 295 секунд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45643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29184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Порог 0.15 по micro-F1 + WC-гейт «застройка только при I4 ≥ 310K»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169663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05072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Day 0.8519 / Night 0.803 — факелы на одном снимке неотличимы (Fig.4), честное ограничение</a:t>
            </a:r>
          </a:p>
        </p:txBody>
      </p:sp>
      <p:pic>
        <p:nvPicPr>
          <p:cNvPr id="12" name="Picture 11" descr="af_viz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0240"/>
            <a:ext cx="329184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04  </a:t>
            </a:r>
            <a:r>
              <a:rPr sz="1300" b="1">
                <a:solidFill>
                  <a:srgbClr val="69737D"/>
                </a:solidFill>
                <a:latin typeface="Inter"/>
              </a:rPr>
              <a:t>МОДУЛЬ BS · BURN SEVERITY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Гари: IoU 0.5239 · mIoU 0.5430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02996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865376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27 каналов: S2 pre/post + S1 VV/VH + aux + dNBR/RdNBR · argmax + cloud→0 + burn-gate snap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74320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7860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dNBR-пороги per-landcover из EDA: лес 0.28/0.53 · степь 0.21/0.38 · пашня 0.19/0.37 · пойма 0.31/0.61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45643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29184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Prithvi-300M мёртв: IoU 0.16 &lt; бейзлайна 0.33 + nan-loss · retry H1 0.6196 и H2 0.632 проиграли фризу ep91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169663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0507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SCL врёт на сухой почве — держим dry-soil override для барренов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4754880"/>
            <a:ext cx="3108960" cy="146304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49640" y="4937760"/>
            <a:ext cx="146304" cy="146304"/>
          </a:xfrm>
          <a:prstGeom prst="ellipse">
            <a:avLst/>
          </a:prstGeom>
          <a:solidFill>
            <a:srgbClr val="E6C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48646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Weak</a:t>
            </a:r>
            <a:r>
              <a:rPr sz="1100" b="0">
                <a:solidFill>
                  <a:srgbClr val="69737D"/>
                </a:solidFill>
                <a:latin typeface="Inter"/>
              </a:rPr>
              <a:t>  Level 1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0" y="53492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52760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Moderate</a:t>
            </a:r>
            <a:r>
              <a:rPr sz="1100" b="0">
                <a:solidFill>
                  <a:srgbClr val="69737D"/>
                </a:solidFill>
                <a:latin typeface="Inter"/>
              </a:rPr>
              <a:t>  Level 2</a:t>
            </a:r>
          </a:p>
        </p:txBody>
      </p:sp>
      <p:sp>
        <p:nvSpPr>
          <p:cNvPr id="17" name="Oval 16"/>
          <p:cNvSpPr/>
          <p:nvPr/>
        </p:nvSpPr>
        <p:spPr>
          <a:xfrm>
            <a:off x="8549640" y="5760720"/>
            <a:ext cx="146304" cy="146304"/>
          </a:xfrm>
          <a:prstGeom prst="ellipse">
            <a:avLst/>
          </a:prstGeom>
          <a:solidFill>
            <a:srgbClr val="EF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56875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5"/>
                </a:solidFill>
                <a:latin typeface="Inter"/>
              </a:rPr>
              <a:t>Strong</a:t>
            </a:r>
            <a:r>
              <a:rPr sz="1100" b="0">
                <a:solidFill>
                  <a:srgbClr val="69737D"/>
                </a:solidFill>
                <a:latin typeface="Inter"/>
              </a:rPr>
              <a:t>  Level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05  </a:t>
            </a:r>
            <a:r>
              <a:rPr sz="1300" b="1">
                <a:solidFill>
                  <a:srgbClr val="69737D"/>
                </a:solidFill>
                <a:latin typeface="Inter"/>
              </a:rPr>
              <a:t>МЕТРИКА И САБМИТ ·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Score 0.654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280160"/>
          </a:xfrm>
          <a:prstGeom prst="roundRect">
            <a:avLst>
              <a:gd name="adj" fmla="val 8000"/>
            </a:avLst>
          </a:prstGeom>
          <a:solidFill>
            <a:srgbClr val="0E1318"/>
          </a:solidFill>
          <a:ln w="12700">
            <a:solidFill>
              <a:srgbClr val="232A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2F4F5"/>
                </a:solidFill>
                <a:latin typeface="Inter"/>
              </a:rPr>
              <a:t>0.35 × 0.8434  +  0.35 × 0.5239  +  0.30 × 0.5430  =  0.654</a:t>
            </a:r>
            <a:r>
              <a:rPr sz="1500" b="0">
                <a:solidFill>
                  <a:srgbClr val="69737D"/>
                </a:solidFill>
                <a:latin typeface="Inter"/>
              </a:rPr>
              <a:t>
F1_af · IoU_burn · mIoU_sev — micro-pool по всем пикселям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3675887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511296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submission.csv: 4.1M · 447 строк (180 AF×1 + 89 BS×3) · пары = шаблону · md5 97b86c67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4334256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169664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RLE строгий: нумерация с 1 · склейка касающихся серий · пустые классы «» · NaN 0 · пересечений 0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99262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82803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Два прогона побайтово идентичны · переобучение запрещено — файл заморожен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06  </a:t>
            </a:r>
            <a:r>
              <a:rPr sz="1300" b="1">
                <a:solidFill>
                  <a:srgbClr val="69737D"/>
                </a:solidFill>
                <a:latin typeface="Inter"/>
              </a:rPr>
              <a:t>СЕРВИС · ВАРИАНТ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API + карта · файловый бэк · без БД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B5F"/>
                </a:solidFill>
                <a:latin typeface="Inter"/>
              </a:rPr>
              <a:t>GET /v1/health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1920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{status: ok} — зелёный бейдж в шапке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B5F"/>
                </a:solidFill>
                <a:latin typeface="Inter"/>
              </a:rPr>
              <a:t>GET /v1/fires?bbox=&amp;dates=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6974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точки термоточек · красный маркер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B5F"/>
                </a:solidFill>
                <a:latin typeface="Inter"/>
              </a:rPr>
              <a:t>GET /v1/burned-areas?severity=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полигоны {id, severity, area_ha, даты} · geojson/json/shp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B5F"/>
                </a:solidFill>
                <a:latin typeface="Inter"/>
              </a:rPr>
              <a:t>GET /v1/analytics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42519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{fire_points, total_burned_ha, by_severity_ha/pct} — нижняя плашка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B5F"/>
                </a:solidFill>
                <a:latin typeface="Inter"/>
              </a:rPr>
              <a:t>POST /v1/*/query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502920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4ADB5"/>
                </a:solidFill>
                <a:latin typeface="Inter"/>
              </a:rPr>
              <a:t>тот же ответ по GeoJSON-полигону · CORS только localhost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map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08  </a:t>
            </a:r>
            <a:r>
              <a:rPr sz="1300" b="1">
                <a:solidFill>
                  <a:srgbClr val="69737D"/>
                </a:solidFill>
                <a:latin typeface="Inter"/>
              </a:rPr>
              <a:t>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Оргам: одна команда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12140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56816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Веса в репо: weights/af.pt + bs.pt + af_thresh.json — докачивать нечего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834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7004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pip install torch (cu128 или cpu) + requirements.lock · сиды 19 везде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54787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83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PYTHONPATH=src/models inference.py --data-dir &lt;test&gt; --output submission.csv — ~28 сек на GPU, на CPU дольше, результат тот же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26110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9651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Сервис: SUBMISSION_CSV=submission.csv uvicorn service.app:app · фронт: index.html → localhost:8000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9737D"/>
                </a:solidFill>
                <a:latin typeface="Inter"/>
              </a:rPr>
              <a:t>09  </a:t>
            </a:r>
            <a:r>
              <a:rPr sz="1300" b="1">
                <a:solidFill>
                  <a:srgbClr val="69737D"/>
                </a:solidFill>
                <a:latin typeface="Inter"/>
              </a:rPr>
              <a:t>ОГРАНИЧЕНИЯ И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5"/>
                </a:solidFill>
                <a:latin typeface="Inter"/>
              </a:rPr>
              <a:t>Честно про потолок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12140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56816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Demo-привязка чипов: гео и дат в тесте нет — размещение сеткой задокументировано, не восстановлено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834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670048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Площади по bbox-компонентам · ночь сложнее дня на 0.05 F1 (I1–I3 ночью = NaN)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54787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338328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0.654 — потолок без переобучения с нуля · топ чата 0.8+ берётся большими бэкбоунами, не тюнингом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26110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409651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A4ADB5"/>
                </a:solidFill>
                <a:latin typeface="Inter"/>
              </a:rPr>
              <a:t>Next: контурная векторизация вместо bbox · выверка GSD-площадей AF · свежие foundation-модели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D99A"/>
                </a:solidFill>
                <a:latin typeface="Inter"/>
              </a:rPr>
              <a:t>●  LIVE  ·  kosmohack · Score 0.654 · 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