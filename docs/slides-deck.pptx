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5A1F"/>
                </a:solidFill>
                <a:latin typeface="Calibri"/>
              </a:rPr>
              <a:t>КОСМОХАКАТОН 2026 · МОНИТОРИНГ ПРИРОДНЫХ ПОЖАРОВ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0F0F0"/>
                </a:solidFill>
                <a:latin typeface="Calibri"/>
              </a:rPr>
              <a:t>kosmohack — двухэтапный мониторинг пожаров по ДЗЗ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A0AA"/>
                </a:solidFill>
                <a:latin typeface="Calibri"/>
              </a:rPr>
              <a:t>AF-детекция + BS-картирование гарей + аналитический сервис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3108960" cy="118872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F0F0"/>
                </a:solidFill>
                <a:latin typeface="Calibri"/>
              </a:rPr>
              <a:t>Score 0.654</a:t>
            </a:r>
            <a:r>
              <a:rPr sz="1500" b="0">
                <a:solidFill>
                  <a:srgbClr val="9AA0AA"/>
                </a:solidFill>
                <a:latin typeface="Calibri"/>
              </a:rPr>
              <a:t>
F1 0.8434 · IoU 0.5239 · mIoU 0.5430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A"/>
                </a:solidFill>
                <a:latin typeface="Calibri"/>
              </a:rPr>
              <a:t>submission.csv FINAL · детерминированный инференс · сервис на localhost:8000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01 ·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Почему глобальных продуктов недостаточно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A1F"/>
                </a:solidFill>
                <a:latin typeface="Calibri"/>
              </a:rPr>
              <a:t>•  </a:t>
            </a:r>
            <a:r>
              <a:rPr sz="2000" b="0">
                <a:solidFill>
                  <a:srgbClr val="F0F0F0"/>
                </a:solidFill>
                <a:latin typeface="Calibri"/>
              </a:rPr>
              <a:t>FIRMS даёт ложные срабатывания на факелах, металлургии и ТЭЦ — в промзонах их больше, чем настоящих пожаров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A1F"/>
                </a:solidFill>
                <a:latin typeface="Calibri"/>
              </a:rPr>
              <a:t>•  </a:t>
            </a:r>
            <a:r>
              <a:rPr sz="2000" b="0">
                <a:solidFill>
                  <a:srgbClr val="F0F0F0"/>
                </a:solidFill>
                <a:latin typeface="Calibri"/>
              </a:rPr>
              <a:t>Блики (металл, теплицы, вода) и пропуски малых очагов, облачности и дыма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A1F"/>
                </a:solidFill>
                <a:latin typeface="Calibri"/>
              </a:rPr>
              <a:t>•  </a:t>
            </a:r>
            <a:r>
              <a:rPr sz="2000" b="0">
                <a:solidFill>
                  <a:srgbClr val="F0F0F0"/>
                </a:solidFill>
                <a:latin typeface="Calibri"/>
              </a:rPr>
              <a:t>Оценка гарей — выборочно, с задержкой в недели, без единой методики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5A1F"/>
                </a:solidFill>
                <a:latin typeface="Calibri"/>
              </a:rPr>
              <a:t>•  </a:t>
            </a:r>
            <a:r>
              <a:rPr sz="2000" b="0">
                <a:solidFill>
                  <a:srgbClr val="F0F0F0"/>
                </a:solidFill>
                <a:latin typeface="Calibri"/>
              </a:rPr>
              <a:t>Нужно: чистые термоточки + контуры гарей по степеням + запрос без ручных операций с растрами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02 · СХЕМА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Два модуля → общий ответ → сервис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1920240" cy="146304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Calibri"/>
              </a:rPr>
              <a:t>VIIRS AF
Unet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8346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5A1F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377440"/>
            <a:ext cx="1920240" cy="146304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6060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Calibri"/>
              </a:rPr>
              <a:t>S2 BS
Unet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346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5A1F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2377440"/>
            <a:ext cx="1920240" cy="146304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6060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Calibri"/>
              </a:rPr>
              <a:t>inference.py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8346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5A1F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377440"/>
            <a:ext cx="1920240" cy="146304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26060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Calibri"/>
              </a:rPr>
              <a:t>submission.csv
447 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8346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5A1F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2377440"/>
            <a:ext cx="1920240" cy="146304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26060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Calibri"/>
              </a:rPr>
              <a:t>FastAPI +
веб-карта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0AA"/>
                </a:solidFill>
                <a:latin typeface="Calibri"/>
              </a:rPr>
              <a:t>Сплит по fire_event_id без утечек · сиды 19 · воспроизводимость ≤ 0.005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03 · МОДУЛЬ AF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Активное горение: F1 0.8434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smp.Unet + timm-efficientnet-b4 (ImageNet), вход 12 каналов: I1–I3, I4, I4−I5, landcover / DEM / ERA5 / day-night / valid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I4 clip 367K · Dice+Focal · oversample позитивов ×3 · AMP · 295 секунд обучения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Порог 0.15 по micro-F1 + WC-гейт «застройка только при I4 ≥ 310K»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Day 0.8519 / Night 0.803 — факелы на одном снимке неотличимы (кейс Fig.4), честное ограничение</a:t>
            </a:r>
          </a:p>
        </p:txBody>
      </p:sp>
      <p:pic>
        <p:nvPicPr>
          <p:cNvPr id="8" name="Picture 7" descr="af_viz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0175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04 · МОДУЛЬ 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Гари: IoU 0.5239 · mIoU 0.5430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smp-Unet effb4, 27 каналов: S2 pre/post + S1 VV/VH + aux + dNBR/RdNBR; argmax + cloud→0 + burn-gate snap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dNBR-пороги per-landcover из EDA: лес 0.28/0.53 · степь 0.21/0.38 · пашня 0.19/0.37 · пойма 0.31/0.61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Ветка Prithvi-300M мертва: IoU 0.16 &lt; бейзлайна 0.33 + nan-loss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Retry H1 (ауг) 0.6196 и H2 (веса классов) 0.632 — оба проиграли фризу ep91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05 · МЕТРИКА И САБМИТ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Score 0.654 ·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881360" cy="1371600"/>
          </a:xfrm>
          <a:prstGeom prst="roundRect">
            <a:avLst/>
          </a:prstGeom>
          <a:solidFill>
            <a:srgbClr val="1B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0F0F0"/>
                </a:solidFill>
                <a:latin typeface="Calibri"/>
              </a:rPr>
              <a:t>0.35 × 0.8434  +  0.35 × 0.5239  +  0.30 × 0.5430  =  0.654</a:t>
            </a:r>
            <a:r>
              <a:rPr sz="1600" b="0">
                <a:solidFill>
                  <a:srgbClr val="9AA0AA"/>
                </a:solidFill>
                <a:latin typeface="Calibri"/>
              </a:rPr>
              <a:t>
F1_af · IoU_burn · mIoU_sev, micro-pool по всем пикселям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submission.csv: 4.1M, 447 строк (180 AF×1 + 89 BS×3), пары = шаблону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RLE строгий: нумерация с 1, склейка касающихся серий, пустые классы «» · NaN 0 · пересечений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md5 97b86c67 · 2 прогона побайтово идентичны · переобучение запрещено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06 · СЕРВИС: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Вариант A · файловый бэк · без БД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GET /v1/health → {status: ok}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GET /v1/fires?bbox=&amp;dates= — точки · GET /v1/burned-areas?severity=1,2,3 — полигоны {id, severity, area_ha, даты}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GET /v1/analytics — {fire_points, total_burned_ha, by_severity_ha/pct} · POST /v1/*/query — запрос по полигону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Форматы geojson / json / shp-zip · CORS только localhost · E2E-серия docs/e2e_curl.sh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07 ·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Карта: 17 точек · 34 полигона · справка без нулей</a:t>
            </a:r>
          </a:p>
        </p:txBody>
      </p:sp>
      <p:pic>
        <p:nvPicPr>
          <p:cNvPr id="4" name="Picture 3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08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Оргам: одна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Веса в репо: weights/af.pt + bs.pt + af_thresh.json — докачивать нечего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pip install torch (cu128 или cpu) + requirements.lock · сиды 19 везде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PYTHONPATH=src/models inference.py --data-dir &lt;test&gt; --output submission.csv (~28 сек на GPU, CPU — дольше, результат тот же)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Сервис: SUBMISSION_CSV=submission.csv uvicorn service.app:app · фронт: index.html + localhost:8000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5A1F"/>
                </a:solidFill>
                <a:latin typeface="Calibri"/>
              </a:rPr>
              <a:t>09–10 · ОГРАНИЧЕНИЯ И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Calibri"/>
              </a:rPr>
              <a:t>Честно про потолок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Demo-привязка чипов: гео/дат в тесте нет (§5.5) — размещение сеткой задокументировано, не восстановлено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Площади по bbox-компонентам · ночь сложнее дня на 0.05 F1 (I1–I3 = NaN)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Потолок 0.654 без переобучения с нуля · топ чата 0.8+ — догоняется большими бэкбоунами, не тюнингом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5A1F"/>
                </a:solidFill>
                <a:latin typeface="Calibri"/>
              </a:rPr>
              <a:t>•  </a:t>
            </a:r>
            <a:r>
              <a:rPr sz="1800" b="0">
                <a:solidFill>
                  <a:srgbClr val="F0F0F0"/>
                </a:solidFill>
                <a:latin typeface="Calibri"/>
              </a:rPr>
              <a:t>Next: контурная векторизация вместо bbox · выверка GSD-площадей AF · свежие foundation-модели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