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Открываем спокойно: кто мы, что построили, главная цифра. Score 0.654 — валидный воспроизводимый результат. Дальше — как пришли.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дежурным нужны чистые точки без ложных выездов, региону — контуры гарей для восстановления леса и расчёта ущерба.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выхода кейса. Подчеркнуть: всё считается автоматически, без ручных операций с растрами.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для жюри: честность протокола. Сплит без утечек, тест не трогаем руками, повторный прогон даёт тот же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 — сильная сторона. Ночной разрыв объяснить: ночью видны только тепловые каналы.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показать инженерную зрелость: убивать нерабочие ветки — тоже результат. Пашня даёт ложные контуры — следующий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называть медленно. Акцент: файл валиден и воспроизводим — это дорогого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и показ: точки, полигоны по степеням, справка с гектарами. Если спросят про привязку — честно: demo-сетка, гео теста скрыто.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оргов главное — воспроизводимость. Веса в репо, CPU-фолбэк, инструкция в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коротко поблагодарить, предложить вопросы. Не оправдываться за 0.654 — подавать как честный инженерный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  <a:latin typeface="Inter"/>
              </a:rPr>
              <a:t>КОСМОХАКАТОН 2026 · КЕЙС «МОНИТОРИНГ ПРИРОДНЫХ ПОЖАРОВ»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F2F4F5"/>
                </a:solidFill>
                <a:latin typeface="Inter"/>
              </a:rPr>
              <a:t>Жим Ногами</a:t>
            </a:r>
            <a:r>
              <a:rPr sz="2200" b="0">
                <a:solidFill>
                  <a:srgbClr val="B8C0C8"/>
                </a:solidFill>
                <a:latin typeface="Inter"/>
              </a:rPr>
              <a:t>
Двухэтапный мониторинг пожаров по спутниковым данным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931920"/>
            <a:ext cx="3657600" cy="137160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0690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2D99A"/>
                </a:solidFill>
                <a:latin typeface="Inter"/>
              </a:rPr>
              <a:t>Score 0.654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931920"/>
            <a:ext cx="3657600" cy="137160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40690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2F4F5"/>
                </a:solidFill>
                <a:latin typeface="Inter"/>
              </a:rPr>
              <a:t>submission 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931920"/>
            <a:ext cx="3200400" cy="137160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40690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6B35"/>
                </a:solidFill>
                <a:latin typeface="Inter"/>
              </a:rPr>
              <a:t>сервис LIVE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02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Пожары видно из космоса.
Беда — отличить их от заводов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779776"/>
            <a:ext cx="155448" cy="155448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57860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4F5"/>
                </a:solidFill>
                <a:latin typeface="Inter"/>
              </a:rPr>
              <a:t>Леса и степи горят с апреля по октябрь</a:t>
            </a:r>
            <a:r>
              <a:rPr sz="1500" b="0">
                <a:solidFill>
                  <a:srgbClr val="7D8690"/>
                </a:solidFill>
                <a:latin typeface="Inter"/>
              </a:rPr>
              <a:t>
скорость степного фронта — километры в час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831335"/>
            <a:ext cx="155448" cy="155448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6301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4F5"/>
                </a:solidFill>
                <a:latin typeface="Inter"/>
              </a:rPr>
              <a:t>Глобальные продукты врут</a:t>
            </a:r>
            <a:r>
              <a:rPr sz="1500" b="0">
                <a:solidFill>
                  <a:srgbClr val="7D8690"/>
                </a:solidFill>
                <a:latin typeface="Inter"/>
              </a:rPr>
              <a:t>
FIRMS сыплет ложняками на факелах и ТЭЦ, пропускает малые очаги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882895"/>
            <a:ext cx="155448" cy="15544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681727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4F5"/>
                </a:solidFill>
                <a:latin typeface="Inter"/>
              </a:rPr>
              <a:t>Гари считают вручную</a:t>
            </a:r>
            <a:r>
              <a:rPr sz="1500" b="0">
                <a:solidFill>
                  <a:srgbClr val="7D8690"/>
                </a:solidFill>
                <a:latin typeface="Inter"/>
              </a:rPr>
              <a:t>
выборочно, с задержкой в недели, без единой методики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03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Что требовалось построить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468880"/>
            <a:ext cx="3474720" cy="20116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6B35"/>
                </a:solidFill>
                <a:latin typeface="Inter"/>
              </a:rPr>
              <a:t>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8C0C8"/>
                </a:solidFill>
                <a:latin typeface="Inter"/>
              </a:rPr>
              <a:t>пиксели горения
по VIIRS, 375 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2468880"/>
            <a:ext cx="3474720" cy="20116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27889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E6C65C"/>
                </a:solidFill>
                <a:latin typeface="Inter"/>
              </a:rPr>
              <a:t>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37033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8C0C8"/>
                </a:solidFill>
                <a:latin typeface="Inter"/>
              </a:rPr>
              <a:t>контуры + 3 степени
по Sentinel-2, 20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68880"/>
            <a:ext cx="3474720" cy="20116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7889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62D99A"/>
                </a:solidFill>
                <a:latin typeface="Inter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7033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8C0C8"/>
                </a:solidFill>
                <a:latin typeface="Inter"/>
              </a:rPr>
              <a:t>карта + справка
по запросу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D8690"/>
                </a:solidFill>
                <a:latin typeface="Inter"/>
              </a:rPr>
              <a:t>Плюс единый submission.csv на 447 строк и воспроизводимый запуск одной командой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04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Подход: две сегментации + строгий протокол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468880"/>
            <a:ext cx="2011680" cy="15544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2F4F5"/>
                </a:solidFill>
                <a:latin typeface="Inter"/>
              </a:rPr>
              <a:t>VIIRS
AF Unet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971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79" y="2468880"/>
            <a:ext cx="2011680" cy="15544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79" y="27432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2F4F5"/>
                </a:solidFill>
                <a:latin typeface="Inter"/>
              </a:rPr>
              <a:t>Sentinel
BS Unet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971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468880"/>
            <a:ext cx="2011680" cy="15544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27432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2F4F5"/>
                </a:solidFill>
                <a:latin typeface="Inter"/>
              </a:rPr>
              <a:t>inference
детерминирован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2971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19" y="2468880"/>
            <a:ext cx="2011680" cy="15544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27432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2F4F5"/>
                </a:solidFill>
                <a:latin typeface="Inter"/>
              </a:rPr>
              <a:t>submission
447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2971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40" y="2468880"/>
            <a:ext cx="2011680" cy="155448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27432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2F4F5"/>
                </a:solidFill>
                <a:latin typeface="Inter"/>
              </a:rPr>
              <a:t>сервис
карта +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D8690"/>
                </a:solidFill>
                <a:latin typeface="Inter"/>
              </a:rPr>
              <a:t>Сплит по очагам без утечек · сиды 19 · тест де-идентифицирован — гео не восстанавливаем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05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Горение находим: F1 0.8434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9689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9572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12 каналов: видимый + I4 + разность I4−I5 + покров, рельеф, метео</a:t>
            </a:r>
            <a:r>
              <a:rPr sz="1500" b="0">
                <a:solidFill>
                  <a:srgbClr val="7D8690"/>
                </a:solidFill>
                <a:latin typeface="Inter"/>
              </a:rPr>
              <a:t>
Unet + EfficientNet-B4 · обучение — 5 минут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60273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4015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Порог 0.15 + фильтр застройки</a:t>
            </a:r>
            <a:r>
              <a:rPr sz="1500" b="0">
                <a:solidFill>
                  <a:srgbClr val="7D8690"/>
                </a:solidFill>
                <a:latin typeface="Inter"/>
              </a:rPr>
              <a:t>
день 0.85 · ночь 0.80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608576"/>
            <a:ext cx="155448" cy="155448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0740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Ограничение признаём</a:t>
            </a:r>
            <a:r>
              <a:rPr sz="1500" b="0">
                <a:solidFill>
                  <a:srgbClr val="7D8690"/>
                </a:solidFill>
                <a:latin typeface="Inter"/>
              </a:rPr>
              <a:t>
факел на одном снимке неотличим от пожара — нужна история</a:t>
            </a:r>
          </a:p>
        </p:txBody>
      </p:sp>
      <p:pic>
        <p:nvPicPr>
          <p:cNvPr id="11" name="Picture 10" descr="af_viz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377440"/>
            <a:ext cx="3108960" cy="103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06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Гари картируем: IoU 0.52 · mIoU 0.54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9689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9572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27 каналов + пороги dNBR под каждый тип покрова</a:t>
            </a:r>
            <a:r>
              <a:rPr sz="1500" b="0">
                <a:solidFill>
                  <a:srgbClr val="7D8690"/>
                </a:solidFill>
                <a:latin typeface="Inter"/>
              </a:rPr>
              <a:t>
лес, степь, пашня и пойма горят по-разному — один порог врёт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602736"/>
            <a:ext cx="155448" cy="155448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4015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Prithvi-300M не взлетел</a:t>
            </a:r>
            <a:r>
              <a:rPr sz="1500" b="0">
                <a:solidFill>
                  <a:srgbClr val="7D8690"/>
                </a:solidFill>
                <a:latin typeface="Inter"/>
              </a:rPr>
              <a:t>
IoU 0.16 — честно убили ветку, а не прячем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60857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0740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Два retry тоже проиграли фризу</a:t>
            </a:r>
            <a:r>
              <a:rPr sz="1500" b="0">
                <a:solidFill>
                  <a:srgbClr val="7D8690"/>
                </a:solidFill>
                <a:latin typeface="Inter"/>
              </a:rPr>
              <a:t>
сдаём проверенный вариант, а не последний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07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Итог метрики: 0.654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0D1217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2F4F5"/>
                </a:solidFill>
                <a:latin typeface="Inter"/>
              </a:rPr>
              <a:t>0.35 × 0.8434  +  0.35 × 0.5239  +  0.30 × 0.5430  =  0.654</a:t>
            </a:r>
            <a:r>
              <a:rPr sz="1600" b="0">
                <a:solidFill>
                  <a:srgbClr val="7D8690"/>
                </a:solidFill>
                <a:latin typeface="Inter"/>
              </a:rPr>
              <a:t>
micro-pool по всем пикселям — устойчиво к редкости горения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4334255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33087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2F4F5"/>
                </a:solidFill>
                <a:latin typeface="Inter"/>
              </a:rPr>
              <a:t>447 строк = шаблону · RLE валиден · NaN 0 · пересечений 0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515721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95604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2F4F5"/>
                </a:solidFill>
                <a:latin typeface="Inter"/>
              </a:rPr>
              <a:t>Два прогона — побайтово идентичны · md5 зафиксирован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ap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D8690"/>
                </a:solidFill>
                <a:latin typeface="Inter"/>
              </a:rPr>
              <a:t>09 / 10   </a:t>
            </a:r>
            <a:r>
              <a:rPr sz="1200" b="1">
                <a:solidFill>
                  <a:srgbClr val="7D8690"/>
                </a:solidFill>
                <a:latin typeface="Inter"/>
              </a:rPr>
              <a:t>ЖИМ НОГАМИ · KOSMOHACK</a:t>
            </a:r>
          </a:p>
        </p:txBody>
      </p:sp>
      <p:sp>
        <p:nvSpPr>
          <p:cNvPr id="3" name="Oval 2"/>
          <p:cNvSpPr/>
          <p:nvPr/>
        </p:nvSpPr>
        <p:spPr>
          <a:xfrm>
            <a:off x="11612880" y="384048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Запуск — одна команда. У вас тоже заведётся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96896"/>
            <a:ext cx="155448" cy="155448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9572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Веса лежат в репозитории</a:t>
            </a:r>
            <a:r>
              <a:rPr sz="1500" b="0">
                <a:solidFill>
                  <a:srgbClr val="7D8690"/>
                </a:solidFill>
                <a:latin typeface="Inter"/>
              </a:rPr>
              <a:t>
докачивать нечего · pip install + requirements.lock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602736"/>
            <a:ext cx="155448" cy="155448"/>
          </a:xfrm>
          <a:prstGeom prst="ellipse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4015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inference.py --data-dir --output</a:t>
            </a:r>
            <a:r>
              <a:rPr sz="1500" b="0">
                <a:solidFill>
                  <a:srgbClr val="7D8690"/>
                </a:solidFill>
                <a:latin typeface="Inter"/>
              </a:rPr>
              <a:t>
~28 секунд на GPU · на CPU дольше, результат тот же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608576"/>
            <a:ext cx="155448" cy="15544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40740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2F4F5"/>
                </a:solidFill>
                <a:latin typeface="Inter"/>
              </a:rPr>
              <a:t>Сервис: 3 GET + 3 POST · geojson/json/shp</a:t>
            </a:r>
            <a:r>
              <a:rPr sz="1500" b="0">
                <a:solidFill>
                  <a:srgbClr val="7D8690"/>
                </a:solidFill>
                <a:latin typeface="Inter"/>
              </a:rPr>
              <a:t>
фронт на localhost:8000 · демо-серия в репо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8C0C8"/>
                </a:solidFill>
                <a:latin typeface="Inter"/>
              </a:rPr>
              <a:t>спасибо · вопросы — по коду в репозитории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7D8690"/>
                </a:solidFill>
                <a:latin typeface="Inter"/>
              </a:rPr>
              <a:t>github.com/izislesar/kosmohack · gitverse · Score 0.654</a:t>
            </a:r>
          </a:p>
        </p:txBody>
      </p:sp>
      <p:sp>
        <p:nvSpPr>
          <p:cNvPr id="5" name="Oval 4"/>
          <p:cNvSpPr/>
          <p:nvPr/>
        </p:nvSpPr>
        <p:spPr>
          <a:xfrm>
            <a:off x="5989320" y="5120640"/>
            <a:ext cx="182880" cy="18288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