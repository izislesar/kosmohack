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Сразу показываем что готово, без прелюдий.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 за полминуты CPU-проходом. Тут видно что мы реально смотрели в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 — наша сильная сторона. Картинка справа — предсказание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про инженерную честность: убивать нерабочее — тоже работа.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медленно. В топе чата 0.8+, но наш файл валиден и честен.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Пауза. Это не мокап — живой фронт на нашем API: 17 точек, контуры по степеням, справка.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Слои выключаются, степени фильтруются, справка пересчитывается из слоёв.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API делали под фронт, фронт — под жюри. Всё состыковано.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Оргам важно: воспроизводимость, CPU-фолбэк, инструкция в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 и уверенно. Дальше — вопросы и живое демо.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2F4F5"/>
                </a:solidFill>
                <a:latin typeface="Inter"/>
              </a:rPr>
              <a:t>ЖИМ НОГАМИ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B8C0C8"/>
                </a:solidFill>
                <a:latin typeface="Inter"/>
              </a:rPr>
              <a:t>Мониторинг лесных пожаров: от сырых снимков до живой карты за один уикенд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962656"/>
            <a:ext cx="155448" cy="155448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76148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Обучили две нейросети — детектор огня и картировальщик гарей</a:t>
            </a:r>
            <a:r>
              <a:rPr sz="1400" b="0">
                <a:solidFill>
                  <a:srgbClr val="7D8690"/>
                </a:solidFill>
                <a:latin typeface="Inter"/>
              </a:rPr>
              <a:t>
Score 0.654 · файл-ответ валиден и воспроизводим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4059935"/>
            <a:ext cx="155448" cy="155448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85876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Подняли сервис и тёмную веб-карту с точками, контурами и справкой</a:t>
            </a:r>
            <a:r>
              <a:rPr sz="1400" b="0">
                <a:solidFill>
                  <a:srgbClr val="7D8690"/>
                </a:solidFill>
                <a:latin typeface="Inter"/>
              </a:rPr>
              <a:t>
то, что вы увидите дальше — работает прямо сейчас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5157216"/>
            <a:ext cx="155448" cy="155448"/>
          </a:xfrm>
          <a:prstGeom prst="ellipse">
            <a:avLst/>
          </a:prstGeom>
          <a:solidFill>
            <a:srgbClr val="F2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5604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Всё открыто: код, веса, отчёт</a:t>
            </a:r>
            <a:r>
              <a:rPr sz="1400" b="0">
                <a:solidFill>
                  <a:srgbClr val="7D8690"/>
                </a:solidFill>
                <a:latin typeface="Inter"/>
              </a:rPr>
              <a:t>
клонируй и запускай одной командой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8690"/>
                </a:solidFill>
                <a:latin typeface="Inter"/>
              </a:rPr>
              <a:t>ЖИМ НОГАМИ · KOSMOHACK</a:t>
            </a:r>
          </a:p>
        </p:txBody>
      </p:sp>
      <p:sp>
        <p:nvSpPr>
          <p:cNvPr id="3" name="Oval 2"/>
          <p:cNvSpPr/>
          <p:nvPr/>
        </p:nvSpPr>
        <p:spPr>
          <a:xfrm>
            <a:off x="11658600" y="384048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F4F5"/>
                </a:solidFill>
                <a:latin typeface="Inter"/>
              </a:rPr>
              <a:t>Сначала — разобрали данные до винтика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414016"/>
            <a:ext cx="155448" cy="155448"/>
          </a:xfrm>
          <a:prstGeom prst="ellipse">
            <a:avLst/>
          </a:prstGeom>
          <a:solidFill>
            <a:srgbClr val="E6C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21284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Огня в выборке 0.035% — 21 пиксель на снимок</a:t>
            </a:r>
            <a:r>
              <a:rPr sz="1400" b="0">
                <a:solidFill>
                  <a:srgbClr val="7D8690"/>
                </a:solidFill>
                <a:latin typeface="Inter"/>
              </a:rPr>
              <a:t>
поэтому oversample, Dice+Focal и порог по micro-метрике, а не по средней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557016"/>
            <a:ext cx="155448" cy="155448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35584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Метаданным не поверили и правильно сделали</a:t>
            </a:r>
            <a:r>
              <a:rPr sz="1400" b="0">
                <a:solidFill>
                  <a:srgbClr val="7D8690"/>
                </a:solidFill>
                <a:latin typeface="Inter"/>
              </a:rPr>
              <a:t>
облачность из таблицы не сошлась с растрами — взяли маску из снимков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700016"/>
            <a:ext cx="155448" cy="155448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49884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Пороги гарей вывели под каждый ландшафт</a:t>
            </a:r>
            <a:r>
              <a:rPr sz="1400" b="0">
                <a:solidFill>
                  <a:srgbClr val="7D8690"/>
                </a:solidFill>
                <a:latin typeface="Inter"/>
              </a:rPr>
              <a:t>
лес, степь, пашня и пойма горят по-разному — один порог врёт всем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8690"/>
                </a:solidFill>
                <a:latin typeface="Inter"/>
              </a:rPr>
              <a:t>ЖИМ НОГАМИ · KOSMOHACK</a:t>
            </a:r>
          </a:p>
        </p:txBody>
      </p:sp>
      <p:sp>
        <p:nvSpPr>
          <p:cNvPr id="3" name="Oval 2"/>
          <p:cNvSpPr/>
          <p:nvPr/>
        </p:nvSpPr>
        <p:spPr>
          <a:xfrm>
            <a:off x="11658600" y="384048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F4F5"/>
                </a:solidFill>
                <a:latin typeface="Inter"/>
              </a:rPr>
              <a:t>Детектор огня: 5 минут — и готово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414016"/>
            <a:ext cx="155448" cy="155448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21284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Unet + EfficientNet-B4 · 12 каналов: видимый, тепло, покров, рельеф, погода</a:t>
            </a:r>
            <a:r>
              <a:rPr sz="1400" b="0">
                <a:solidFill>
                  <a:srgbClr val="7D8690"/>
                </a:solidFill>
                <a:latin typeface="Inter"/>
              </a:rPr>
              <a:t>
полное обучение за 295 секунд на арендной RTX PRO 4500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557016"/>
            <a:ext cx="155448" cy="155448"/>
          </a:xfrm>
          <a:prstGeom prst="ellipse">
            <a:avLst/>
          </a:prstGeom>
          <a:solidFill>
            <a:srgbClr val="F2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35584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F1 0.8434 · днём 0.85, ночью 0.80</a:t>
            </a:r>
            <a:r>
              <a:rPr sz="1400" b="0">
                <a:solidFill>
                  <a:srgbClr val="7D8690"/>
                </a:solidFill>
                <a:latin typeface="Inter"/>
              </a:rPr>
              <a:t>
ночью видны только тепловые каналы — отсюда разрыв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700016"/>
            <a:ext cx="155448" cy="155448"/>
          </a:xfrm>
          <a:prstGeom prst="ellipse">
            <a:avLst/>
          </a:prstGeom>
          <a:solidFill>
            <a:srgbClr val="E6C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49884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Факелы от пожаров на одном снимке неотличимы</a:t>
            </a:r>
            <a:r>
              <a:rPr sz="1400" b="0">
                <a:solidFill>
                  <a:srgbClr val="7D8690"/>
                </a:solidFill>
                <a:latin typeface="Inter"/>
              </a:rPr>
              <a:t>
давим их контекстом застройки и историей — честно пишем в отчёт</a:t>
            </a:r>
          </a:p>
        </p:txBody>
      </p:sp>
      <p:pic>
        <p:nvPicPr>
          <p:cNvPr id="11" name="Picture 10" descr="af_viz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480560"/>
            <a:ext cx="2377440" cy="792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8690"/>
                </a:solidFill>
                <a:latin typeface="Inter"/>
              </a:rPr>
              <a:t>ЖИМ НОГАМИ · KOSMOHACK</a:t>
            </a:r>
          </a:p>
        </p:txBody>
      </p:sp>
      <p:sp>
        <p:nvSpPr>
          <p:cNvPr id="3" name="Oval 2"/>
          <p:cNvSpPr/>
          <p:nvPr/>
        </p:nvSpPr>
        <p:spPr>
          <a:xfrm>
            <a:off x="11658600" y="384048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F4F5"/>
                </a:solidFill>
                <a:latin typeface="Inter"/>
              </a:rPr>
              <a:t>Гари: похоронили гиганта, выиграл трудяга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414016"/>
            <a:ext cx="155448" cy="155448"/>
          </a:xfrm>
          <a:prstGeom prst="ellips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21284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Prithvi-300M сдох: IoU 0.16 — хуже тупого бейзлайна плюс nan-лосс</a:t>
            </a:r>
            <a:r>
              <a:rPr sz="1400" b="0">
                <a:solidFill>
                  <a:srgbClr val="7D8690"/>
                </a:solidFill>
                <a:latin typeface="Inter"/>
              </a:rPr>
              <a:t>
закрыли ветку без сантиментов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557016"/>
            <a:ext cx="155448" cy="155448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35584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Обычный Unet выиграл: IoU 0.52 · mIoU 0.54</a:t>
            </a:r>
            <a:r>
              <a:rPr sz="1400" b="0">
                <a:solidFill>
                  <a:srgbClr val="7D8690"/>
                </a:solidFill>
                <a:latin typeface="Inter"/>
              </a:rPr>
              <a:t>
27 каналов, 91 эпоха — фриз, который сдаём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700016"/>
            <a:ext cx="155448" cy="155448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49884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Две добивки проиграли фризу (0.62 и 0.63 против 0.65)</a:t>
            </a:r>
            <a:r>
              <a:rPr sz="1400" b="0">
                <a:solidFill>
                  <a:srgbClr val="7D8690"/>
                </a:solidFill>
                <a:latin typeface="Inter"/>
              </a:rPr>
              <a:t>
поэтому сдаём проверенное, а не последнее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8690"/>
                </a:solidFill>
                <a:latin typeface="Inter"/>
              </a:rPr>
              <a:t>ЖИМ НОГАМИ · KOSMOHACK</a:t>
            </a:r>
          </a:p>
        </p:txBody>
      </p:sp>
      <p:sp>
        <p:nvSpPr>
          <p:cNvPr id="3" name="Oval 2"/>
          <p:cNvSpPr/>
          <p:nvPr/>
        </p:nvSpPr>
        <p:spPr>
          <a:xfrm>
            <a:off x="11658600" y="384048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F4F5"/>
                </a:solidFill>
                <a:latin typeface="Inter"/>
              </a:rPr>
              <a:t>Итог: 0.654 — честные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10881360" cy="1463040"/>
          </a:xfrm>
          <a:prstGeom prst="roundRect">
            <a:avLst>
              <a:gd name="adj" fmla="val 7000"/>
            </a:avLst>
          </a:prstGeom>
          <a:solidFill>
            <a:srgbClr val="0D1217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2F4F5"/>
                </a:solidFill>
                <a:latin typeface="Inter"/>
              </a:rPr>
              <a:t>0.35 × 0.8434  +  0.35 × 0.5239  +  0.30 × 0.5430  =  0.654</a:t>
            </a:r>
            <a:r>
              <a:rPr sz="1500" b="0">
                <a:solidFill>
                  <a:srgbClr val="7D8690"/>
                </a:solidFill>
                <a:latin typeface="Inter"/>
              </a:rPr>
              <a:t>
447 строк · RLE валиден · два прогона идентичны · md5 зафиксирован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4334255"/>
            <a:ext cx="155448" cy="155448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133087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F2F4F5"/>
                </a:solidFill>
                <a:latin typeface="Inter"/>
              </a:rPr>
              <a:t>Файл примут с первого раза</a:t>
            </a:r>
            <a:r>
              <a:rPr sz="1400" b="0">
                <a:solidFill>
                  <a:srgbClr val="7D8690"/>
                </a:solidFill>
                <a:latin typeface="Inter"/>
              </a:rPr>
              <a:t>
пары совпадают с шаблоном, NaN ноль, пересечений ноль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-map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8690"/>
                </a:solidFill>
                <a:latin typeface="Inter"/>
              </a:rPr>
              <a:t>ЖИМ НОГАМИ · KOSMOHACK</a:t>
            </a:r>
          </a:p>
        </p:txBody>
      </p:sp>
      <p:sp>
        <p:nvSpPr>
          <p:cNvPr id="3" name="Oval 2"/>
          <p:cNvSpPr/>
          <p:nvPr/>
        </p:nvSpPr>
        <p:spPr>
          <a:xfrm>
            <a:off x="11658600" y="384048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2F4F5"/>
                </a:solidFill>
                <a:latin typeface="Inter"/>
              </a:rPr>
              <a:t>Карта умеет: слои, степени, справка</a:t>
            </a:r>
          </a:p>
        </p:txBody>
      </p:sp>
      <p:pic>
        <p:nvPicPr>
          <p:cNvPr id="5" name="Picture 4" descr="02-burned-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6949440" cy="3909060"/>
          </a:xfrm>
          <a:prstGeom prst="rect">
            <a:avLst/>
          </a:prstGeom>
        </p:spPr>
      </p:pic>
      <p:pic>
        <p:nvPicPr>
          <p:cNvPr id="6" name="Picture 5" descr="03-analyt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2926080"/>
            <a:ext cx="3657600" cy="4676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8690"/>
                </a:solidFill>
                <a:latin typeface="Inter"/>
              </a:rPr>
              <a:t>ЖИМ НОГАМИ · KOSMOHACK</a:t>
            </a:r>
          </a:p>
        </p:txBody>
      </p:sp>
      <p:sp>
        <p:nvSpPr>
          <p:cNvPr id="3" name="Oval 2"/>
          <p:cNvSpPr/>
          <p:nvPr/>
        </p:nvSpPr>
        <p:spPr>
          <a:xfrm>
            <a:off x="11658600" y="384048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F4F5"/>
                </a:solidFill>
                <a:latin typeface="Inter"/>
              </a:rPr>
              <a:t>Под картой — настоящее API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414016"/>
            <a:ext cx="155448" cy="155448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21284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3 GET по прямоугольнику + 3 POST по полигону</a:t>
            </a:r>
            <a:r>
              <a:rPr sz="1400" b="0">
                <a:solidFill>
                  <a:srgbClr val="7D8690"/>
                </a:solidFill>
                <a:latin typeface="Inter"/>
              </a:rPr>
              <a:t>
точки, полигоны, аналитика — geojson, json, shp-архив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557016"/>
            <a:ext cx="155448" cy="155448"/>
          </a:xfrm>
          <a:prstGeom prst="ellipse">
            <a:avLst/>
          </a:prstGeom>
          <a:solidFill>
            <a:srgbClr val="F2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35584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Проверено серией из 9 curl-запросов</a:t>
            </a:r>
            <a:r>
              <a:rPr sz="1400" b="0">
                <a:solidFill>
                  <a:srgbClr val="7D8690"/>
                </a:solidFill>
                <a:latin typeface="Inter"/>
              </a:rPr>
              <a:t>
все зелёные — файл серии лежит в репозитории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700016"/>
            <a:ext cx="155448" cy="155448"/>
          </a:xfrm>
          <a:prstGeom prst="ellipse">
            <a:avLst/>
          </a:prstGeom>
          <a:solidFill>
            <a:srgbClr val="E6C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49884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Без базы данных — файловый бэкенд</a:t>
            </a:r>
            <a:r>
              <a:rPr sz="1400" b="0">
                <a:solidFill>
                  <a:srgbClr val="7D8690"/>
                </a:solidFill>
                <a:latin typeface="Inter"/>
              </a:rPr>
              <a:t>
нечему падать на защите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8690"/>
                </a:solidFill>
                <a:latin typeface="Inter"/>
              </a:rPr>
              <a:t>ЖИМ НОГАМИ · KOSMOHACK</a:t>
            </a:r>
          </a:p>
        </p:txBody>
      </p:sp>
      <p:sp>
        <p:nvSpPr>
          <p:cNvPr id="3" name="Oval 2"/>
          <p:cNvSpPr/>
          <p:nvPr/>
        </p:nvSpPr>
        <p:spPr>
          <a:xfrm>
            <a:off x="11658600" y="384048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F4F5"/>
                </a:solidFill>
                <a:latin typeface="Inter"/>
              </a:rPr>
              <a:t>Заведётся и у вас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414016"/>
            <a:ext cx="155448" cy="155448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21284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4F5"/>
                </a:solidFill>
                <a:latin typeface="Inter"/>
              </a:rPr>
              <a:t>Веса лежат в репозитории</a:t>
            </a:r>
            <a:r>
              <a:rPr sz="1400" b="0">
                <a:solidFill>
                  <a:srgbClr val="7D8690"/>
                </a:solidFill>
                <a:latin typeface="Inter"/>
              </a:rPr>
              <a:t>
докачивать нечего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602736"/>
            <a:ext cx="155448" cy="155448"/>
          </a:xfrm>
          <a:prstGeom prst="ellipse">
            <a:avLst/>
          </a:prstGeom>
          <a:solidFill>
            <a:srgbClr val="F2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40156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4F5"/>
                </a:solidFill>
                <a:latin typeface="Inter"/>
              </a:rPr>
              <a:t>Одна команда инференса — ~28 секунд</a:t>
            </a:r>
            <a:r>
              <a:rPr sz="1400" b="0">
                <a:solidFill>
                  <a:srgbClr val="7D8690"/>
                </a:solidFill>
                <a:latin typeface="Inter"/>
              </a:rPr>
              <a:t>
на CPU дольше, результат тот же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791455"/>
            <a:ext cx="155448" cy="155448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59028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4F5"/>
                </a:solidFill>
                <a:latin typeface="Inter"/>
              </a:rPr>
              <a:t>Одна команда сервиса + открыть страницу</a:t>
            </a:r>
            <a:r>
              <a:rPr sz="1400" b="0">
                <a:solidFill>
                  <a:srgbClr val="7D8690"/>
                </a:solidFill>
                <a:latin typeface="Inter"/>
              </a:rPr>
              <a:t>
демо из коробки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4592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2F4F5"/>
                </a:solidFill>
                <a:latin typeface="Inter"/>
              </a:rPr>
              <a:t>ЖИМ НОГАМИ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0175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8C0C8"/>
                </a:solidFill>
                <a:latin typeface="Inter"/>
              </a:rPr>
              <a:t>код, веса и отчёт — в репозитории · вопросы?</a:t>
            </a:r>
          </a:p>
        </p:txBody>
      </p:sp>
      <p:sp>
        <p:nvSpPr>
          <p:cNvPr id="4" name="Oval 3"/>
          <p:cNvSpPr/>
          <p:nvPr/>
        </p:nvSpPr>
        <p:spPr>
          <a:xfrm>
            <a:off x="5989320" y="4389120"/>
            <a:ext cx="182880" cy="182880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