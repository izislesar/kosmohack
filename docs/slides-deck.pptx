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5"/>
                </a:solidFill>
                <a:latin typeface="Inter"/>
              </a:rPr>
              <a:t>Мониторинг природных пожаров</a:t>
            </a:r>
            <a:r>
              <a:rPr sz="1800" b="0">
                <a:solidFill>
                  <a:srgbClr val="A4ADB5"/>
                </a:solidFill>
                <a:latin typeface="Inter"/>
              </a:rPr>
              <a:t>
AF-детекция · BS-картирование гарей · аналитический сервис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THERMAL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4F5"/>
                </a:solidFill>
                <a:latin typeface="Inter"/>
              </a:rPr>
              <a:t>0.8434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val micro-F1 AF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8B5F"/>
                </a:solidFill>
                <a:latin typeface="Inter"/>
              </a:rPr>
              <a:t>0.654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0.35·F1+0.35·IoU+0.30·mIoU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28616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LEVEL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4F5"/>
                </a:solidFill>
                <a:latin typeface="Inter"/>
              </a:rPr>
              <a:t>0.5239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IoU burn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2904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LEVEL 02–03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4F5"/>
                </a:solidFill>
                <a:latin typeface="Inter"/>
              </a:rPr>
              <a:t>0.5430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0064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mIoU severity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37192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74352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STATUS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4352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2D99A"/>
                </a:solidFill>
                <a:latin typeface="Inter"/>
              </a:rPr>
              <a:t>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submission · 447 строк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852160" cy="4480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2F4F5"/>
                </a:solidFill>
                <a:latin typeface="Inter"/>
              </a:rPr>
              <a:t>Проблема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331720"/>
            <a:ext cx="137160" cy="137160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Ложняки FIRMS</a:t>
            </a:r>
            <a:r>
              <a:rPr sz="1100" b="0">
                <a:solidFill>
                  <a:srgbClr val="69737D"/>
                </a:solidFill>
                <a:latin typeface="Inter"/>
              </a:rPr>
              <a:t>
факелы, металлургия и ТЭЦ — в промзонах их больше, чем пожаров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08960"/>
            <a:ext cx="137160" cy="137160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718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Блики и пропуски</a:t>
            </a:r>
            <a:r>
              <a:rPr sz="1100" b="0">
                <a:solidFill>
                  <a:srgbClr val="69737D"/>
                </a:solidFill>
                <a:latin typeface="Inter"/>
              </a:rPr>
              <a:t>
металл, теплицы, вода · малые очаги, облака, дым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886200"/>
            <a:ext cx="137160" cy="1371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Гари без методики</a:t>
            </a:r>
            <a:r>
              <a:rPr sz="1100" b="0">
                <a:solidFill>
                  <a:srgbClr val="69737D"/>
                </a:solidFill>
                <a:latin typeface="Inter"/>
              </a:rPr>
              <a:t>
выборочно, с задержкой в недели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663440"/>
            <a:ext cx="137160" cy="13716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Надо</a:t>
            </a:r>
            <a:r>
              <a:rPr sz="1100" b="0">
                <a:solidFill>
                  <a:srgbClr val="69737D"/>
                </a:solidFill>
                <a:latin typeface="Inter"/>
              </a:rPr>
              <a:t>
чистые точки + контуры по степеням + запрос без растров</a:t>
            </a:r>
          </a:p>
        </p:txBody>
      </p:sp>
      <p:pic>
        <p:nvPicPr>
          <p:cNvPr id="17" name="Picture 16" descr="02-burned-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852160" cy="4480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2F4F5"/>
                </a:solidFill>
                <a:latin typeface="Inter"/>
              </a:rPr>
              <a:t>Конвейер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331720"/>
            <a:ext cx="137160" cy="137160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VIIRS AF Unet</a:t>
            </a:r>
            <a:r>
              <a:rPr sz="1100" b="0">
                <a:solidFill>
                  <a:srgbClr val="69737D"/>
                </a:solidFill>
                <a:latin typeface="Inter"/>
              </a:rPr>
              <a:t>
I1–I5 + aux · 12 каналов · 295 сек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08960"/>
            <a:ext cx="137160" cy="137160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718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S2 BS Unet</a:t>
            </a:r>
            <a:r>
              <a:rPr sz="1100" b="0">
                <a:solidFill>
                  <a:srgbClr val="69737D"/>
                </a:solidFill>
                <a:latin typeface="Inter"/>
              </a:rPr>
              <a:t>
27 каналов · argmax + cloud→0 + burn-gate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886200"/>
            <a:ext cx="137160" cy="1371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inference.py</a:t>
            </a:r>
            <a:r>
              <a:rPr sz="1100" b="0">
                <a:solidFill>
                  <a:srgbClr val="69737D"/>
                </a:solidFill>
                <a:latin typeface="Inter"/>
              </a:rPr>
              <a:t>
детерминирован · ~28 сек · дифф 0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663440"/>
            <a:ext cx="137160" cy="13716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submission.csv</a:t>
            </a:r>
            <a:r>
              <a:rPr sz="1100" b="0">
                <a:solidFill>
                  <a:srgbClr val="69737D"/>
                </a:solidFill>
                <a:latin typeface="Inter"/>
              </a:rPr>
              <a:t>
447 строк · RLE строгий · md5 97b86c67</a:t>
            </a:r>
          </a:p>
        </p:txBody>
      </p:sp>
      <p:pic>
        <p:nvPicPr>
          <p:cNvPr id="17" name="Picture 16" descr="af_viz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852160" cy="4480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2F4F5"/>
                </a:solidFill>
                <a:latin typeface="Inter"/>
              </a:rPr>
              <a:t>Модуль AF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331720"/>
            <a:ext cx="137160" cy="13716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F1 0.8434</a:t>
            </a:r>
            <a:r>
              <a:rPr sz="1100" b="0">
                <a:solidFill>
                  <a:srgbClr val="69737D"/>
                </a:solidFill>
                <a:latin typeface="Inter"/>
              </a:rPr>
              <a:t>
day 0.8519 / night 0.803 · порог 0.15 по micro-F1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08960"/>
            <a:ext cx="137160" cy="137160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718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WC-гейт</a:t>
            </a:r>
            <a:r>
              <a:rPr sz="1100" b="0">
                <a:solidFill>
                  <a:srgbClr val="69737D"/>
                </a:solidFill>
                <a:latin typeface="Inter"/>
              </a:rPr>
              <a:t>
застройка только при I4 ≥ 310K (+0.0007)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886200"/>
            <a:ext cx="137160" cy="137160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Честно</a:t>
            </a:r>
            <a:r>
              <a:rPr sz="1100" b="0">
                <a:solidFill>
                  <a:srgbClr val="69737D"/>
                </a:solidFill>
                <a:latin typeface="Inter"/>
              </a:rPr>
              <a:t>
факелы на одном снимке неотличимы — Fig.4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663440"/>
            <a:ext cx="137160" cy="1371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Сплит</a:t>
            </a:r>
            <a:r>
              <a:rPr sz="1100" b="0">
                <a:solidFill>
                  <a:srgbClr val="69737D"/>
                </a:solidFill>
                <a:latin typeface="Inter"/>
              </a:rPr>
              <a:t>
по fire_event_id · сиды 19</a:t>
            </a:r>
          </a:p>
        </p:txBody>
      </p:sp>
      <p:pic>
        <p:nvPicPr>
          <p:cNvPr id="17" name="Picture 16" descr="01-map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852160" cy="4480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2F4F5"/>
                </a:solidFill>
                <a:latin typeface="Inter"/>
              </a:rPr>
              <a:t>Модуль BS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331720"/>
            <a:ext cx="137160" cy="137160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IoU 0.5239</a:t>
            </a:r>
            <a:r>
              <a:rPr sz="1100" b="0">
                <a:solidFill>
                  <a:srgbClr val="69737D"/>
                </a:solidFill>
                <a:latin typeface="Inter"/>
              </a:rPr>
              <a:t>
mIoU severity 0.5430 · фриз ep91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08960"/>
            <a:ext cx="137160" cy="1371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718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dNBR per-cover</a:t>
            </a:r>
            <a:r>
              <a:rPr sz="1100" b="0">
                <a:solidFill>
                  <a:srgbClr val="69737D"/>
                </a:solidFill>
                <a:latin typeface="Inter"/>
              </a:rPr>
              <a:t>
лес 0.28/0.53 · степь 0.21/0.38 · пашня 0.19/0.37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886200"/>
            <a:ext cx="137160" cy="137160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Prithvi мёртв</a:t>
            </a:r>
            <a:r>
              <a:rPr sz="1100" b="0">
                <a:solidFill>
                  <a:srgbClr val="69737D"/>
                </a:solidFill>
                <a:latin typeface="Inter"/>
              </a:rPr>
              <a:t>
IoU 0.16 &lt; бейзлайна 0.33 + nan-loss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663440"/>
            <a:ext cx="137160" cy="13716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Retry H1/H2</a:t>
            </a:r>
            <a:r>
              <a:rPr sz="1100" b="0">
                <a:solidFill>
                  <a:srgbClr val="69737D"/>
                </a:solidFill>
                <a:latin typeface="Inter"/>
              </a:rPr>
              <a:t>
0.6196 и 0.632 — оба проиграли фризу</a:t>
            </a:r>
          </a:p>
        </p:txBody>
      </p:sp>
      <p:pic>
        <p:nvPicPr>
          <p:cNvPr id="17" name="Picture 16" descr="03-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77440"/>
            <a:ext cx="5212080" cy="6663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11521440" cy="13716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4F5"/>
                </a:solidFill>
                <a:latin typeface="Inter"/>
              </a:rPr>
              <a:t>0.35 × 0.8434  +  0.35 × 0.5239  +  0.30 × 0.5430  =  0.654</a:t>
            </a:r>
            <a:r>
              <a:rPr sz="1500" b="0">
                <a:solidFill>
                  <a:srgbClr val="69737D"/>
                </a:solidFill>
                <a:latin typeface="Inter"/>
              </a:rPr>
              <a:t>
F1_af · IoU_burn · mIoU_sev — micro-pool по всем пикселям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THERMAL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4F5"/>
                </a:solidFill>
                <a:latin typeface="Inter"/>
              </a:rPr>
              <a:t>0.8434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F1_af · micro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8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LEVEL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C65C"/>
                </a:solidFill>
                <a:latin typeface="Inter"/>
              </a:rPr>
              <a:t>0.5239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IoU burn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28616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LEVEL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8B5F"/>
                </a:solidFill>
                <a:latin typeface="Inter"/>
              </a:rPr>
              <a:t>mIoU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0.5430 · sev 1/2/3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32904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LEVEL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0064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4F5"/>
                </a:solidFill>
                <a:latin typeface="Inter"/>
              </a:rPr>
              <a:t>447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строк · NaN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37192" y="5074920"/>
            <a:ext cx="2194560" cy="1051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5129783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9737D"/>
                </a:solidFill>
                <a:latin typeface="Inter"/>
              </a:rPr>
              <a:t>STATUS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534924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2D99A"/>
                </a:solidFill>
                <a:latin typeface="Inter"/>
              </a:rPr>
              <a:t>FINAL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5824728"/>
            <a:ext cx="19385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9737D"/>
                </a:solidFill>
                <a:latin typeface="Inter"/>
              </a:rPr>
              <a:t>переобучение запрещено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11521440" cy="484632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2F4F5"/>
                </a:solidFill>
                <a:latin typeface="Inter"/>
              </a:rPr>
              <a:t>Сервис · Вариант A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331720"/>
            <a:ext cx="137160" cy="13716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GET /v1/health</a:t>
            </a:r>
            <a:r>
              <a:rPr sz="1100" b="0">
                <a:solidFill>
                  <a:srgbClr val="69737D"/>
                </a:solidFill>
                <a:latin typeface="Inter"/>
              </a:rPr>
              <a:t>
{status: ok} — бейдж в шапке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200400"/>
            <a:ext cx="137160" cy="137160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632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GET fires / burned</a:t>
            </a:r>
            <a:r>
              <a:rPr sz="1100" b="0">
                <a:solidFill>
                  <a:srgbClr val="69737D"/>
                </a:solidFill>
                <a:latin typeface="Inter"/>
              </a:rPr>
              <a:t>
точки · полигоны {severity, area_ha} · shp-zip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4069079"/>
            <a:ext cx="137160" cy="137160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319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GET /v1/analytics</a:t>
            </a:r>
            <a:r>
              <a:rPr sz="1100" b="0">
                <a:solidFill>
                  <a:srgbClr val="69737D"/>
                </a:solidFill>
                <a:latin typeface="Inter"/>
              </a:rPr>
              <a:t>
справка: га + распределение — нижняя плашка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937759"/>
            <a:ext cx="137160" cy="1371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006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POST */query</a:t>
            </a:r>
            <a:r>
              <a:rPr sz="1100" b="0">
                <a:solidFill>
                  <a:srgbClr val="69737D"/>
                </a:solidFill>
                <a:latin typeface="Inter"/>
              </a:rPr>
              <a:t>
тот же ответ по полигону · CORS localhost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ap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852160" cy="4480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2F4F5"/>
                </a:solidFill>
                <a:latin typeface="Inter"/>
              </a:rPr>
              <a:t>Запуск у оргов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331720"/>
            <a:ext cx="137160" cy="13716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Веса в репо</a:t>
            </a:r>
            <a:r>
              <a:rPr sz="1100" b="0">
                <a:solidFill>
                  <a:srgbClr val="69737D"/>
                </a:solidFill>
                <a:latin typeface="Inter"/>
              </a:rPr>
              <a:t>
af.pt + bs.pt + thresh — докачивать нечего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08960"/>
            <a:ext cx="137160" cy="137160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718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pip install</a:t>
            </a:r>
            <a:r>
              <a:rPr sz="1100" b="0">
                <a:solidFill>
                  <a:srgbClr val="69737D"/>
                </a:solidFill>
                <a:latin typeface="Inter"/>
              </a:rPr>
              <a:t>
torch cu128/cpu + requirements.lock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886200"/>
            <a:ext cx="137160" cy="1371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Одна команда</a:t>
            </a:r>
            <a:r>
              <a:rPr sz="1100" b="0">
                <a:solidFill>
                  <a:srgbClr val="69737D"/>
                </a:solidFill>
                <a:latin typeface="Inter"/>
              </a:rPr>
              <a:t>
inference.py --data-dir --output (~28 сек)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663440"/>
            <a:ext cx="137160" cy="137160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Сервис</a:t>
            </a:r>
            <a:r>
              <a:rPr sz="1100" b="0">
                <a:solidFill>
                  <a:srgbClr val="69737D"/>
                </a:solidFill>
                <a:latin typeface="Inter"/>
              </a:rPr>
              <a:t>
uvicorn service.app · фронт localhost:8000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852160"/>
            <a:ext cx="5852160" cy="548640"/>
          </a:xfrm>
          <a:prstGeom prst="roundRect">
            <a:avLst>
              <a:gd name="adj" fmla="val 2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94360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2F4F5"/>
                </a:solidFill>
                <a:latin typeface="Inter"/>
              </a:rPr>
              <a:t>git clone → pip install → inference.py  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74920" y="228600"/>
            <a:ext cx="2057400" cy="68580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57800" y="457200"/>
            <a:ext cx="128016" cy="128016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2560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2F4F5"/>
                </a:solidFill>
                <a:latin typeface="Inter"/>
              </a:rPr>
              <a:t>ЖИМ НОГАМИ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303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9737D"/>
                </a:solidFill>
                <a:latin typeface="Inter"/>
              </a:rPr>
              <a:t>FIRE MONITOR · KOSMOHACK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852160" cy="4480560"/>
          </a:xfrm>
          <a:prstGeom prst="roundRect">
            <a:avLst>
              <a:gd name="adj" fmla="val 9000"/>
            </a:avLst>
          </a:prstGeom>
          <a:solidFill>
            <a:srgbClr val="0A0E12"/>
          </a:solidFill>
          <a:ln w="12700">
            <a:solidFill>
              <a:srgbClr val="2A3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2F4F5"/>
                </a:solidFill>
                <a:latin typeface="Inter"/>
              </a:rPr>
              <a:t>Потолок — честно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331720"/>
            <a:ext cx="137160" cy="137160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Demo-привязка</a:t>
            </a:r>
            <a:r>
              <a:rPr sz="1100" b="0">
                <a:solidFill>
                  <a:srgbClr val="69737D"/>
                </a:solidFill>
                <a:latin typeface="Inter"/>
              </a:rPr>
              <a:t>
гео/дат в тесте нет — сетка задокументирована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08960"/>
            <a:ext cx="137160" cy="1371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718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Ночь −0.05 F1</a:t>
            </a:r>
            <a:r>
              <a:rPr sz="1100" b="0">
                <a:solidFill>
                  <a:srgbClr val="69737D"/>
                </a:solidFill>
                <a:latin typeface="Inter"/>
              </a:rPr>
              <a:t>
I1–I3 ночью = NaN по построению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886200"/>
            <a:ext cx="137160" cy="137160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0.654 — фриз</a:t>
            </a:r>
            <a:r>
              <a:rPr sz="1100" b="0">
                <a:solidFill>
                  <a:srgbClr val="69737D"/>
                </a:solidFill>
                <a:latin typeface="Inter"/>
              </a:rPr>
              <a:t>
топ 0.8+ берётся бэкбоунами, не тюнингом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663440"/>
            <a:ext cx="137160" cy="137160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Next</a:t>
            </a:r>
            <a:r>
              <a:rPr sz="1100" b="0">
                <a:solidFill>
                  <a:srgbClr val="69737D"/>
                </a:solidFill>
                <a:latin typeface="Inter"/>
              </a:rPr>
              <a:t>
контуры вместо bbox · foundation-модели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92608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2F4F5"/>
                </a:solidFill>
                <a:latin typeface="Inter"/>
              </a:rPr>
              <a:t>ЖИМ НОГАМИ</a:t>
            </a:r>
            <a:r>
              <a:rPr sz="1600" b="0">
                <a:solidFill>
                  <a:srgbClr val="69737D"/>
                </a:solidFill>
                <a:latin typeface="Inter"/>
              </a:rPr>
              <a:t>
спасибо · вопросы — по коду в репо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